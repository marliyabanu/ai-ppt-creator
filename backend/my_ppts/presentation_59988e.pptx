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6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0000"/>
                </a:solidFill>
                <a:latin typeface="Times New Roman"/>
              </a:defRPr>
            </a:pPr>
            <a:r>
              <a:t>Artificial Intelligence (AI)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Created by ANU</a:t>
            </a:r>
          </a:p>
          <a:p>
            <a:pPr algn="ctr"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April 17,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6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E6E6"/>
                </a:solidFill>
                <a:latin typeface="Times New Roman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50000"/>
              </a:lnSpc>
              <a:spcAft>
                <a:spcPts val="1600"/>
              </a:spcAft>
              <a:defRPr sz="3800">
                <a:solidFill>
                  <a:srgbClr val="000000"/>
                </a:solidFill>
                <a:latin typeface="Times New Roman"/>
              </a:defRPr>
            </a:pPr>
            <a:r>
              <a:t>•  Artificial Intelligence (AI) is the simulation of human intelligence in machines</a:t>
            </a:r>
          </a:p>
          <a:p>
            <a:pPr>
              <a:lnSpc>
                <a:spcPct val="150000"/>
              </a:lnSpc>
              <a:spcAft>
                <a:spcPts val="1600"/>
              </a:spcAft>
              <a:defRPr sz="3800">
                <a:solidFill>
                  <a:srgbClr val="000000"/>
                </a:solidFill>
                <a:latin typeface="Times New Roman"/>
              </a:defRPr>
            </a:pPr>
            <a:r>
              <a:t>•  Machines are designed to think, learn, and make decisions</a:t>
            </a:r>
          </a:p>
          <a:p>
            <a:pPr>
              <a:lnSpc>
                <a:spcPct val="150000"/>
              </a:lnSpc>
              <a:spcAft>
                <a:spcPts val="1600"/>
              </a:spcAft>
              <a:defRPr sz="3800">
                <a:solidFill>
                  <a:srgbClr val="000000"/>
                </a:solidFill>
                <a:latin typeface="Times New Roman"/>
              </a:defRPr>
            </a:pPr>
            <a:r>
              <a:t>•  AI is widely used in modern technology to make life easier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6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E6E6"/>
                </a:solidFill>
                <a:latin typeface="Times New Roman"/>
              </a:defRPr>
            </a:pPr>
            <a:r>
              <a:t>Types of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50000"/>
              </a:lnSpc>
              <a:spcAft>
                <a:spcPts val="1600"/>
              </a:spcAft>
              <a:defRPr sz="3800">
                <a:solidFill>
                  <a:srgbClr val="000000"/>
                </a:solidFill>
                <a:latin typeface="Times New Roman"/>
              </a:defRPr>
            </a:pPr>
            <a:r>
              <a:t>•  Narrow AI performs specific tasks like voice assistants</a:t>
            </a:r>
          </a:p>
          <a:p>
            <a:pPr>
              <a:lnSpc>
                <a:spcPct val="150000"/>
              </a:lnSpc>
              <a:spcAft>
                <a:spcPts val="1600"/>
              </a:spcAft>
              <a:defRPr sz="3800">
                <a:solidFill>
                  <a:srgbClr val="000000"/>
                </a:solidFill>
                <a:latin typeface="Times New Roman"/>
              </a:defRPr>
            </a:pPr>
            <a:r>
              <a:t>•  General AI aims for human-like intelligence</a:t>
            </a:r>
          </a:p>
          <a:p>
            <a:pPr>
              <a:lnSpc>
                <a:spcPct val="150000"/>
              </a:lnSpc>
              <a:spcAft>
                <a:spcPts val="1600"/>
              </a:spcAft>
              <a:defRPr sz="3800">
                <a:solidFill>
                  <a:srgbClr val="000000"/>
                </a:solidFill>
                <a:latin typeface="Times New Roman"/>
              </a:defRPr>
            </a:pPr>
            <a:r>
              <a:t>•  Super AI is a future concept beyond human capability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6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E6E6"/>
                </a:solidFill>
                <a:latin typeface="Times New Roman"/>
              </a:defRPr>
            </a:pPr>
            <a:r>
              <a:t>Advantages of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50000"/>
              </a:lnSpc>
              <a:spcAft>
                <a:spcPts val="1600"/>
              </a:spcAft>
              <a:defRPr sz="3800">
                <a:solidFill>
                  <a:srgbClr val="008000"/>
                </a:solidFill>
                <a:latin typeface="Times New Roman"/>
              </a:defRPr>
            </a:pPr>
            <a:r>
              <a:t>✓  Reduces human effort and saves time</a:t>
            </a:r>
          </a:p>
          <a:p>
            <a:pPr>
              <a:lnSpc>
                <a:spcPct val="150000"/>
              </a:lnSpc>
              <a:spcAft>
                <a:spcPts val="1600"/>
              </a:spcAft>
              <a:defRPr sz="3800">
                <a:solidFill>
                  <a:srgbClr val="008000"/>
                </a:solidFill>
                <a:latin typeface="Times New Roman"/>
              </a:defRPr>
            </a:pPr>
            <a:r>
              <a:t>✓  Works continuously without breaks</a:t>
            </a:r>
          </a:p>
          <a:p>
            <a:pPr>
              <a:lnSpc>
                <a:spcPct val="150000"/>
              </a:lnSpc>
              <a:spcAft>
                <a:spcPts val="1600"/>
              </a:spcAft>
              <a:defRPr sz="3800">
                <a:solidFill>
                  <a:srgbClr val="008000"/>
                </a:solidFill>
                <a:latin typeface="Times New Roman"/>
              </a:defRPr>
            </a:pPr>
            <a:r>
              <a:t>✓  Minimizes errors and improves accuracy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6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E6E6"/>
                </a:solidFill>
                <a:latin typeface="Times New Roman"/>
              </a:defRPr>
            </a:pPr>
            <a:r>
              <a:t>Disadvantages of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50000"/>
              </a:lnSpc>
              <a:spcAft>
                <a:spcPts val="1600"/>
              </a:spcAft>
              <a:defRPr sz="3800">
                <a:solidFill>
                  <a:srgbClr val="008000"/>
                </a:solidFill>
                <a:latin typeface="Times New Roman"/>
              </a:defRPr>
            </a:pPr>
            <a:r>
              <a:t>✓  High cost of development and maintenance</a:t>
            </a:r>
          </a:p>
          <a:p>
            <a:pPr>
              <a:lnSpc>
                <a:spcPct val="150000"/>
              </a:lnSpc>
              <a:spcAft>
                <a:spcPts val="1600"/>
              </a:spcAft>
              <a:defRPr sz="3800">
                <a:solidFill>
                  <a:srgbClr val="008000"/>
                </a:solidFill>
                <a:latin typeface="Times New Roman"/>
              </a:defRPr>
            </a:pPr>
            <a:r>
              <a:t>✓  Leads to job loss due to automation</a:t>
            </a:r>
          </a:p>
          <a:p>
            <a:pPr>
              <a:lnSpc>
                <a:spcPct val="150000"/>
              </a:lnSpc>
              <a:spcAft>
                <a:spcPts val="1600"/>
              </a:spcAft>
              <a:defRPr sz="3800">
                <a:solidFill>
                  <a:srgbClr val="008000"/>
                </a:solidFill>
                <a:latin typeface="Times New Roman"/>
              </a:defRPr>
            </a:pPr>
            <a:r>
              <a:t>✓  Lacks human creativity and emotions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6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E6E6"/>
                </a:solidFill>
                <a:latin typeface="Times New Roman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50000"/>
              </a:lnSpc>
              <a:spcAft>
                <a:spcPts val="1600"/>
              </a:spcAft>
              <a:defRPr sz="3800">
                <a:solidFill>
                  <a:srgbClr val="000000"/>
                </a:solidFill>
                <a:latin typeface="Times New Roman"/>
              </a:defRPr>
            </a:pPr>
            <a:r>
              <a:t>•  AI is transforming the world</a:t>
            </a:r>
          </a:p>
          <a:p>
            <a:pPr>
              <a:lnSpc>
                <a:spcPct val="150000"/>
              </a:lnSpc>
              <a:spcAft>
                <a:spcPts val="1600"/>
              </a:spcAft>
              <a:defRPr sz="3800">
                <a:solidFill>
                  <a:srgbClr val="000000"/>
                </a:solidFill>
                <a:latin typeface="Times New Roman"/>
              </a:defRPr>
            </a:pPr>
            <a:r>
              <a:t>•  It has both advantages and disadvantages</a:t>
            </a:r>
          </a:p>
          <a:p>
            <a:pPr>
              <a:lnSpc>
                <a:spcPct val="150000"/>
              </a:lnSpc>
              <a:spcAft>
                <a:spcPts val="1600"/>
              </a:spcAft>
              <a:defRPr sz="3800">
                <a:solidFill>
                  <a:srgbClr val="000000"/>
                </a:solidFill>
                <a:latin typeface="Times New Roman"/>
              </a:defRPr>
            </a:pPr>
            <a:r>
              <a:t>•  Responsible use of AI is important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