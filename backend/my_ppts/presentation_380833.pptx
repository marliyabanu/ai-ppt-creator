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6FFE6"/>
        </a:solidFill>
        <a:effectLst/>
      </p:bgPr>
    </p:bg>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4400" b="1">
                <a:solidFill>
                  <a:srgbClr val="000000"/>
                </a:solidFill>
                <a:latin typeface="Calibri"/>
              </a:defRPr>
            </a:pPr>
            <a:r>
              <a:t>CYBER SECURITY</a:t>
            </a:r>
          </a:p>
        </p:txBody>
      </p:sp>
      <p:sp>
        <p:nvSpPr>
          <p:cNvPr id="3" name="TextBox 2"/>
          <p:cNvSpPr txBox="1"/>
          <p:nvPr/>
        </p:nvSpPr>
        <p:spPr>
          <a:xfrm>
            <a:off x="457200" y="3657600"/>
            <a:ext cx="8229600" cy="914400"/>
          </a:xfrm>
          <a:prstGeom prst="rect">
            <a:avLst/>
          </a:prstGeom>
          <a:noFill/>
        </p:spPr>
        <p:txBody>
          <a:bodyPr wrap="none">
            <a:spAutoFit/>
          </a:bodyPr>
          <a:lstStyle/>
          <a:p>
            <a:pPr algn="ctr">
              <a:defRPr sz="1800">
                <a:solidFill>
                  <a:srgbClr val="000000"/>
                </a:solidFill>
                <a:latin typeface="Calibri"/>
              </a:defRPr>
            </a:pPr>
            <a:r>
              <a:t>Created by BANU</a:t>
            </a:r>
          </a:p>
          <a:p>
            <a:pPr algn="ctr">
              <a:defRPr sz="1800">
                <a:solidFill>
                  <a:srgbClr val="000000"/>
                </a:solidFill>
                <a:latin typeface="Calibri"/>
              </a:defRPr>
            </a:pPr>
            <a:r>
              <a:t>April 17,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6FFE6"/>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2800" b="1">
                <a:solidFill>
                  <a:srgbClr val="E6FFE6"/>
                </a:solidFill>
                <a:latin typeface="Calibri"/>
              </a:defRPr>
            </a:pPr>
            <a:r>
              <a:t>Introduction to Cyber Security</a:t>
            </a:r>
          </a:p>
        </p:txBody>
      </p:sp>
      <p:sp>
        <p:nvSpPr>
          <p:cNvPr id="4" name="TextBox 3"/>
          <p:cNvSpPr txBox="1"/>
          <p:nvPr/>
        </p:nvSpPr>
        <p:spPr>
          <a:xfrm>
            <a:off x="548640" y="1097280"/>
            <a:ext cx="8046720" cy="5029200"/>
          </a:xfrm>
          <a:prstGeom prst="rect">
            <a:avLst/>
          </a:prstGeom>
          <a:noFill/>
        </p:spPr>
        <p:txBody>
          <a:bodyPr wrap="square">
            <a:spAutoFit/>
          </a:bodyPr>
          <a:lstStyle/>
          <a:p/>
          <a:p>
            <a:pPr>
              <a:lnSpc>
                <a:spcPct val="130000"/>
              </a:lnSpc>
              <a:spcAft>
                <a:spcPts val="1400"/>
              </a:spcAft>
              <a:defRPr sz="2600">
                <a:solidFill>
                  <a:srgbClr val="000000"/>
                </a:solidFill>
                <a:latin typeface="Calibri"/>
              </a:defRPr>
            </a:pPr>
            <a:r>
              <a:t>•  Cyber security is the practice of protecting computers, servers, networks, and data from digital attacks and unauthorized access. In today’s world, almost everything is connected to the internet, including banking, education, communication, and business operations. This makes cyber security extremely important for individuals as well as organizations. Cyber threats are increasing rapidly, and attackers use advanced techniques to steal data or disrupt systems. Cyber security helps in maintaining the confidentiality, integrity, and availability of information. It ensures that sensitive data such as personal details, passwords, and financial information remains protected. Without proper cyber security, systems can be easily attacked, leading to serious consequences like data breaches and financial loss. Therefore, cyber security is not just a technical requirement but also a necessity in modern life. Everyone, from individuals to large companies, must take proper steps to secure their digital information and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6FFE6"/>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2800" b="1">
                <a:solidFill>
                  <a:srgbClr val="E6FFE6"/>
                </a:solidFill>
                <a:latin typeface="Calibri"/>
              </a:defRPr>
            </a:pPr>
            <a:r>
              <a:t> Types of Cyber Threats and Attacks</a:t>
            </a:r>
          </a:p>
        </p:txBody>
      </p:sp>
      <p:sp>
        <p:nvSpPr>
          <p:cNvPr id="4" name="TextBox 3"/>
          <p:cNvSpPr txBox="1"/>
          <p:nvPr/>
        </p:nvSpPr>
        <p:spPr>
          <a:xfrm>
            <a:off x="548640" y="1097280"/>
            <a:ext cx="8046720" cy="5029200"/>
          </a:xfrm>
          <a:prstGeom prst="rect">
            <a:avLst/>
          </a:prstGeom>
          <a:noFill/>
        </p:spPr>
        <p:txBody>
          <a:bodyPr wrap="square">
            <a:spAutoFit/>
          </a:bodyPr>
          <a:lstStyle/>
          <a:p/>
          <a:p>
            <a:pPr>
              <a:lnSpc>
                <a:spcPct val="130000"/>
              </a:lnSpc>
              <a:spcAft>
                <a:spcPts val="1400"/>
              </a:spcAft>
              <a:defRPr sz="2600">
                <a:solidFill>
                  <a:srgbClr val="000000"/>
                </a:solidFill>
                <a:latin typeface="Calibri"/>
              </a:defRPr>
            </a:pPr>
            <a:r>
              <a:t>•  There are many types of cyber threats that can harm systems and data. Malware is one of the most common threats, which includes viruses, worms, and trojans that damage or disrupt systems. Phishing attacks try to trick users into providing sensitive information such as passwords or credit card details by pretending to be trustworthy sources. Ransomware is another dangerous attack where hackers lock or encrypt data and demand money to restore access. Hacking involves gaining unauthorized access to systems to steal or manipulate data. Denial-of-Service (DoS) attacks overload systems and make them unavailable to users. These threats are constantly evolving, becoming more complex and difficult to detect. Cyber attackers often exploit human errors, such as weak passwords or clicking on suspicious links. Understanding these threats is important to prevent attacks and protect data effectively. Awareness is the first step in building strong cyber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FFE6"/>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2800" b="1">
                <a:solidFill>
                  <a:srgbClr val="E6FFE6"/>
                </a:solidFill>
                <a:latin typeface="Calibri"/>
              </a:defRPr>
            </a:pPr>
            <a:r>
              <a:t> Prevention and Importance of Cyber Security</a:t>
            </a:r>
          </a:p>
        </p:txBody>
      </p:sp>
      <p:sp>
        <p:nvSpPr>
          <p:cNvPr id="4" name="TextBox 3"/>
          <p:cNvSpPr txBox="1"/>
          <p:nvPr/>
        </p:nvSpPr>
        <p:spPr>
          <a:xfrm>
            <a:off x="548640" y="1097280"/>
            <a:ext cx="8046720" cy="5029200"/>
          </a:xfrm>
          <a:prstGeom prst="rect">
            <a:avLst/>
          </a:prstGeom>
          <a:noFill/>
        </p:spPr>
        <p:txBody>
          <a:bodyPr wrap="square">
            <a:spAutoFit/>
          </a:bodyPr>
          <a:lstStyle/>
          <a:p/>
          <a:p>
            <a:pPr>
              <a:lnSpc>
                <a:spcPct val="130000"/>
              </a:lnSpc>
              <a:spcAft>
                <a:spcPts val="1400"/>
              </a:spcAft>
              <a:defRPr sz="2600">
                <a:solidFill>
                  <a:srgbClr val="000000"/>
                </a:solidFill>
                <a:latin typeface="Calibri"/>
              </a:defRPr>
            </a:pPr>
            <a:r>
              <a:t>•  Preventing cyber attacks requires a combination of technology, awareness, and good practices. Using strong and unique passwords is one of the simplest ways to improve security. Installing antivirus software and keeping systems updated helps protect against known threats. Firewalls act as barriers between trusted and untrusted networks, preventing unauthorized access. Users should avoid clicking on unknown links and downloading files from untrusted sources. Cyber security is important because it protects personal information, financial data, and organizational systems from damage and theft. It also helps in maintaining trust and reliability in digital platforms. For businesses, strong cyber security ensures smooth operations and prevents financial losses. Governments also rely on cyber security to protect national data and infrastructure. As technology continues to grow, cyber security will become even more important in the future. Therefore, everyone must be aware and take responsibility for staying safe in the digital world.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FE6"/>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2800" b="1">
                <a:solidFill>
                  <a:srgbClr val="E6FFE6"/>
                </a:solidFill>
                <a:latin typeface="Calibri"/>
              </a:defRPr>
            </a:pPr>
            <a:r>
              <a:t>Disadvantages of Cyber Security</a:t>
            </a:r>
          </a:p>
        </p:txBody>
      </p:sp>
      <p:sp>
        <p:nvSpPr>
          <p:cNvPr id="4" name="TextBox 3"/>
          <p:cNvSpPr txBox="1"/>
          <p:nvPr/>
        </p:nvSpPr>
        <p:spPr>
          <a:xfrm>
            <a:off x="548640" y="1097280"/>
            <a:ext cx="8046720" cy="5029200"/>
          </a:xfrm>
          <a:prstGeom prst="rect">
            <a:avLst/>
          </a:prstGeom>
          <a:noFill/>
        </p:spPr>
        <p:txBody>
          <a:bodyPr wrap="square">
            <a:spAutoFit/>
          </a:bodyPr>
          <a:lstStyle/>
          <a:p/>
          <a:p>
            <a:pPr>
              <a:lnSpc>
                <a:spcPct val="130000"/>
              </a:lnSpc>
              <a:spcAft>
                <a:spcPts val="1400"/>
              </a:spcAft>
              <a:defRPr sz="3200">
                <a:solidFill>
                  <a:srgbClr val="008000"/>
                </a:solidFill>
                <a:latin typeface="Calibri"/>
              </a:defRPr>
            </a:pPr>
            <a:r>
              <a:t>✓  High cost of development and maintenance</a:t>
            </a:r>
          </a:p>
          <a:p>
            <a:pPr>
              <a:lnSpc>
                <a:spcPct val="130000"/>
              </a:lnSpc>
              <a:spcAft>
                <a:spcPts val="1400"/>
              </a:spcAft>
              <a:defRPr sz="3200">
                <a:solidFill>
                  <a:srgbClr val="008000"/>
                </a:solidFill>
                <a:latin typeface="Calibri"/>
              </a:defRPr>
            </a:pPr>
            <a:r>
              <a:t>✓  Leads to job loss due to automation</a:t>
            </a:r>
          </a:p>
          <a:p>
            <a:pPr>
              <a:lnSpc>
                <a:spcPct val="130000"/>
              </a:lnSpc>
              <a:spcAft>
                <a:spcPts val="1400"/>
              </a:spcAft>
              <a:defRPr sz="3200">
                <a:solidFill>
                  <a:srgbClr val="008000"/>
                </a:solidFill>
                <a:latin typeface="Calibri"/>
              </a:defRPr>
            </a:pPr>
            <a:r>
              <a:t>✓  Lacks human creativity and emotions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