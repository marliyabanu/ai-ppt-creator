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41E50"/>
                </a:solidFill>
                <a:latin typeface="Arial"/>
              </a:defRPr>
            </a:pPr>
            <a:r>
              <a:t>Artificial Intelligence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Professional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C27B0"/>
                </a:solidFill>
              </a:defRPr>
            </a:pPr>
            <a:r>
              <a:t>Created by JUHI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87878"/>
                </a:solidFill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Title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7680960" cy="73152"/>
          </a:xfrm>
          <a:prstGeom prst="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59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Title: Artif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6304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2316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Subtitle: Tr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6908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500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0080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2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641E50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188720" y="1508760"/>
            <a:ext cx="315468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1: AI sim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43400" y="1508760"/>
            <a:ext cx="278892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2: Machin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20" y="2743200"/>
            <a:ext cx="315468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3: Used 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743200"/>
            <a:ext cx="278892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IDEA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What is AI?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  Point 1: AI enables smart computer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82296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  Point 2: Performs human-like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  Point 3: Examples include speech and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History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✓ PROS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1: 1950 – Alan Turing introduced AI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2: 1956 – First AI conference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3: 2000s – Rapid growth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0000"/>
                </a:solidFill>
              </a:defRPr>
            </a:pPr>
            <a:r>
              <a:t>✗ CONS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1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Types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Point 1: Narrow AI – specific tasks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Point 2: General AI – human-like intelligence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Point 3: Super AI – beyond human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How AI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7680960" cy="73152"/>
          </a:xfrm>
          <a:prstGeom prst="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59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1: Use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6304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2316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2: Mac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6908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3: Dee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500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0080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2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Applications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641E50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188720" y="1508760"/>
            <a:ext cx="315468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1: Health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43400" y="1508760"/>
            <a:ext cx="278892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2: Educat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20" y="2743200"/>
            <a:ext cx="315468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3: Busine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743200"/>
            <a:ext cx="278892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IDEA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AI in Daily Life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  Point 1: Virtual assistants like Siri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82296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  Point 2: Recommendation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  Point 3: Chatbots and search engines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AI in Healthcare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✓ PROS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1: Early disease detection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2: Robot-assisted surgery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3: Personalized treatment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0000"/>
                </a:solidFill>
              </a:defRPr>
            </a:pPr>
            <a:r>
              <a:t>✗ CONS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1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✓ Point 1: Smart classrooms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Point 2: Personalized learning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✓ Point 3: Automated grading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Advantages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7680960" cy="73152"/>
          </a:xfrm>
          <a:prstGeom prst="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59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1: Sav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6304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2316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2: Wor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0896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6908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3: Red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500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00800" y="2743200"/>
            <a:ext cx="274320" cy="182880"/>
          </a:xfrm>
          <a:prstGeom prst="rightArrow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20" y="256032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371600"/>
            <a:ext cx="146304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Disadvantages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2286000"/>
            <a:ext cx="2286000" cy="914400"/>
          </a:xfrm>
          <a:prstGeom prst="roundRect">
            <a:avLst/>
          </a:prstGeom>
          <a:solidFill>
            <a:srgbClr val="641E50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188720" y="1508760"/>
            <a:ext cx="315468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1: High d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343400" y="1508760"/>
            <a:ext cx="2788920" cy="1234440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0" y="11887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2: Job lo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188720" y="2743200"/>
            <a:ext cx="315468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Point 3: Lack 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743200"/>
            <a:ext cx="2788920" cy="1508759"/>
          </a:xfrm>
          <a:prstGeom prst="line">
            <a:avLst/>
          </a:prstGeom>
          <a:ln w="25400">
            <a:solidFill>
              <a:srgbClr val="9C2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31920"/>
            <a:ext cx="1463040" cy="640080"/>
          </a:xfrm>
          <a:prstGeom prst="roundRect">
            <a:avLst/>
          </a:prstGeom>
          <a:solidFill>
            <a:srgbClr val="9C27B0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IDEA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Challenges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6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01  Point 1: Ethical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82296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02  Point 2: Data privacy concerns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8229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03  Point 3: Algorithm bias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1E50"/>
                </a:solidFill>
              </a:defRPr>
            </a:pPr>
            <a:r>
              <a:t>Future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✓ PROS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1: Smarter machines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2: AI in all industries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  • Point 3: Better human-AI collaboration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0000"/>
                </a:solidFill>
              </a:defRPr>
            </a:pPr>
            <a:r>
              <a:t>✗ CONS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