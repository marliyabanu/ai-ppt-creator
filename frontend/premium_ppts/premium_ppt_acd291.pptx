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800" b="1">
                <a:solidFill>
                  <a:srgbClr val="DC143C"/>
                </a:solidFill>
                <a:latin typeface="Impact"/>
              </a:defRPr>
            </a:pPr>
            <a:r>
              <a:t>Artificial Intelligence in Healthcare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>
                <a:solidFill>
                  <a:srgbClr val="505050"/>
                </a:solidFill>
                <a:latin typeface="Impact"/>
              </a:defRPr>
            </a:pPr>
            <a:r>
              <a:t>Presented by PPT CREATOR</a:t>
            </a:r>
          </a:p>
          <a:p>
            <a:pPr>
              <a:defRPr sz="1800">
                <a:solidFill>
                  <a:srgbClr val="505050"/>
                </a:solidFill>
                <a:latin typeface="Impact"/>
              </a:defRPr>
            </a:pPr>
            <a:r>
              <a:t>Created by B MARLIYA BANU</a:t>
            </a:r>
          </a:p>
          <a:p>
            <a:pPr>
              <a:defRPr sz="1800">
                <a:solidFill>
                  <a:srgbClr val="505050"/>
                </a:solidFill>
                <a:latin typeface="Impact"/>
              </a:defRPr>
            </a:pPr>
            <a:r>
              <a:t>April 17,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DC143C"/>
                </a:solidFill>
                <a:latin typeface="Impact"/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  <a:latin typeface="Impact"/>
              </a:defRPr>
            </a:pPr>
            <a:r>
              <a:t>Overview of Artificial Intelligence in Healthcare</a:t>
            </a:r>
          </a:p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  <a:latin typeface="Impact"/>
              </a:defRPr>
            </a:pPr>
            <a:r>
              <a:t>Why this topic matters today</a:t>
            </a:r>
          </a:p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  <a:latin typeface="Impact"/>
              </a:defRPr>
            </a:pPr>
            <a:r>
              <a:t>Key objectives of this presentation</a:t>
            </a:r>
          </a:p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  <a:latin typeface="Impact"/>
              </a:defRPr>
            </a:pPr>
            <a:r>
              <a:t>What you will learn</a:t>
            </a:r>
          </a:p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  <a:latin typeface="Impact"/>
              </a:defRPr>
            </a:pPr>
            <a:r>
              <a:t>Market significance and impact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C143C"/>
                </a:solidFill>
                <a:latin typeface="Impact"/>
              </a:defRPr>
            </a:pPr>
            <a:r>
              <a:t>Key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286000" cy="1097280"/>
          </a:xfrm>
          <a:prstGeom prst="roundRect">
            <a:avLst/>
          </a:prstGeom>
          <a:solidFill>
            <a:srgbClr val="DC143C"/>
          </a:solidFill>
          <a:ln>
            <a:solidFill>
              <a:srgbClr val="8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  <a:latin typeface="Impact"/>
              </a:defRPr>
            </a:pPr>
            <a:r>
              <a:t>FEATURE 1</a:t>
            </a:r>
          </a:p>
          <a:p>
            <a:r>
              <a:t>Innovative Technology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1371600"/>
            <a:ext cx="2286000" cy="1097280"/>
          </a:xfrm>
          <a:prstGeom prst="roundRect">
            <a:avLst/>
          </a:prstGeom>
          <a:solidFill>
            <a:srgbClr val="DC143C"/>
          </a:solidFill>
          <a:ln>
            <a:solidFill>
              <a:srgbClr val="8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  <a:latin typeface="Impact"/>
              </a:defRPr>
            </a:pPr>
            <a:r>
              <a:t>FEATURE 2</a:t>
            </a:r>
          </a:p>
          <a:p>
            <a:r>
              <a:t>User Friendly Interface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1371600"/>
            <a:ext cx="2286000" cy="1097280"/>
          </a:xfrm>
          <a:prstGeom prst="roundRect">
            <a:avLst/>
          </a:prstGeom>
          <a:solidFill>
            <a:srgbClr val="DC143C"/>
          </a:solidFill>
          <a:ln>
            <a:solidFill>
              <a:srgbClr val="8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  <a:latin typeface="Impact"/>
              </a:defRPr>
            </a:pPr>
            <a:r>
              <a:t>FEATURE 3</a:t>
            </a:r>
          </a:p>
          <a:p>
            <a:r>
              <a:t>Cost Effective Solution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200400"/>
            <a:ext cx="2286000" cy="1097280"/>
          </a:xfrm>
          <a:prstGeom prst="roundRect">
            <a:avLst/>
          </a:prstGeom>
          <a:solidFill>
            <a:srgbClr val="DC143C"/>
          </a:solidFill>
          <a:ln>
            <a:solidFill>
              <a:srgbClr val="8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  <a:latin typeface="Impact"/>
              </a:defRPr>
            </a:pPr>
            <a:r>
              <a:t>FEATURE 4</a:t>
            </a:r>
          </a:p>
          <a:p>
            <a:r>
              <a:t>Scalable Architecture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3200400"/>
            <a:ext cx="2286000" cy="1097280"/>
          </a:xfrm>
          <a:prstGeom prst="roundRect">
            <a:avLst/>
          </a:prstGeom>
          <a:solidFill>
            <a:srgbClr val="DC143C"/>
          </a:solidFill>
          <a:ln>
            <a:solidFill>
              <a:srgbClr val="8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  <a:latin typeface="Impact"/>
              </a:defRPr>
            </a:pPr>
            <a:r>
              <a:t>FEATURE 5</a:t>
            </a:r>
          </a:p>
          <a:p>
            <a:r>
              <a:t>Secure &amp; Reliable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3200400"/>
            <a:ext cx="2286000" cy="1097280"/>
          </a:xfrm>
          <a:prstGeom prst="roundRect">
            <a:avLst/>
          </a:prstGeom>
          <a:solidFill>
            <a:srgbClr val="DC143C"/>
          </a:solidFill>
          <a:ln>
            <a:solidFill>
              <a:srgbClr val="8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  <a:latin typeface="Impact"/>
              </a:defRPr>
            </a:pPr>
            <a:r>
              <a:t>FEATURE 6</a:t>
            </a:r>
          </a:p>
          <a:p>
            <a:r>
              <a:t>24/7 Support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C143C"/>
                </a:solidFill>
                <a:latin typeface="Impact"/>
              </a:defRPr>
            </a:pPr>
            <a:r>
              <a:t>Mind 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2286000"/>
            <a:ext cx="2286000" cy="914400"/>
          </a:xfrm>
          <a:prstGeom prst="roundRect">
            <a:avLst/>
          </a:prstGeom>
          <a:solidFill>
            <a:srgbClr val="DC143C"/>
          </a:solidFill>
          <a:ln>
            <a:solidFill>
              <a:srgbClr val="8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FFFFFF"/>
                </a:solidFill>
                <a:latin typeface="Impact"/>
              </a:defRPr>
            </a:pPr>
            <a:r>
              <a:t>MAIN CONCEPT</a:t>
            </a:r>
          </a:p>
        </p:txBody>
      </p:sp>
      <p:cxnSp>
        <p:nvCxnSpPr>
          <p:cNvPr id="5" name="Connector 4"/>
          <p:cNvCxnSpPr/>
          <p:nvPr/>
        </p:nvCxnSpPr>
        <p:spPr>
          <a:xfrm flipH="1" flipV="1">
            <a:off x="1188720" y="1371600"/>
            <a:ext cx="3154680" cy="1371600"/>
          </a:xfrm>
          <a:prstGeom prst="line">
            <a:avLst/>
          </a:prstGeom>
          <a:ln w="25400">
            <a:solidFill>
              <a:srgbClr val="FF6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57200" y="1097280"/>
            <a:ext cx="1463040" cy="640080"/>
          </a:xfrm>
          <a:prstGeom prst="roundRect">
            <a:avLst/>
          </a:prstGeom>
          <a:solidFill>
            <a:srgbClr val="FF6496"/>
          </a:solidFill>
          <a:ln>
            <a:solidFill>
              <a:srgbClr val="8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FFFFFF"/>
                </a:solidFill>
                <a:latin typeface="Impact"/>
              </a:defRPr>
            </a:pPr>
            <a:r>
              <a:t>INTRODUCTION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4343400" y="1371600"/>
            <a:ext cx="2788920" cy="1371600"/>
          </a:xfrm>
          <a:prstGeom prst="line">
            <a:avLst/>
          </a:prstGeom>
          <a:ln w="25400">
            <a:solidFill>
              <a:srgbClr val="FF6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400800" y="1097280"/>
            <a:ext cx="1463040" cy="640080"/>
          </a:xfrm>
          <a:prstGeom prst="roundRect">
            <a:avLst/>
          </a:prstGeom>
          <a:solidFill>
            <a:srgbClr val="FF6496"/>
          </a:solidFill>
          <a:ln>
            <a:solidFill>
              <a:srgbClr val="8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FFFFFF"/>
                </a:solidFill>
                <a:latin typeface="Impact"/>
              </a:defRPr>
            </a:pPr>
            <a:r>
              <a:t>FEATURES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1188720" y="2743200"/>
            <a:ext cx="3154680" cy="1371600"/>
          </a:xfrm>
          <a:prstGeom prst="line">
            <a:avLst/>
          </a:prstGeom>
          <a:ln w="25400">
            <a:solidFill>
              <a:srgbClr val="FF6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57200" y="3840480"/>
            <a:ext cx="1463040" cy="640080"/>
          </a:xfrm>
          <a:prstGeom prst="roundRect">
            <a:avLst/>
          </a:prstGeom>
          <a:solidFill>
            <a:srgbClr val="FF6496"/>
          </a:solidFill>
          <a:ln>
            <a:solidFill>
              <a:srgbClr val="8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FFFFFF"/>
                </a:solidFill>
                <a:latin typeface="Impact"/>
              </a:defRPr>
            </a:pPr>
            <a:r>
              <a:t>BENEFITS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343400" y="2743200"/>
            <a:ext cx="2788920" cy="1371600"/>
          </a:xfrm>
          <a:prstGeom prst="line">
            <a:avLst/>
          </a:prstGeom>
          <a:ln w="25400">
            <a:solidFill>
              <a:srgbClr val="FF6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400800" y="3840480"/>
            <a:ext cx="1463040" cy="640080"/>
          </a:xfrm>
          <a:prstGeom prst="roundRect">
            <a:avLst/>
          </a:prstGeom>
          <a:solidFill>
            <a:srgbClr val="FF6496"/>
          </a:solidFill>
          <a:ln>
            <a:solidFill>
              <a:srgbClr val="8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FFFFFF"/>
                </a:solidFill>
                <a:latin typeface="Impact"/>
              </a:defRPr>
            </a:pPr>
            <a:r>
              <a:t>APPLICATIONS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C143C"/>
                </a:solidFill>
                <a:latin typeface="Impact"/>
              </a:defRPr>
            </a:pPr>
            <a:r>
              <a:t>Real-World Examples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286000" cy="1097280"/>
          </a:xfrm>
          <a:prstGeom prst="roundRect">
            <a:avLst/>
          </a:prstGeom>
          <a:solidFill>
            <a:srgbClr val="FF6496"/>
          </a:solidFill>
          <a:ln>
            <a:solidFill>
              <a:srgbClr val="8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  <a:latin typeface="Impact"/>
              </a:defRPr>
            </a:pPr>
            <a:r>
              <a:t>EXAMPLE 1</a:t>
            </a:r>
          </a:p>
          <a:p>
            <a:r>
              <a:t>Industry Leader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1371600"/>
            <a:ext cx="2286000" cy="1097280"/>
          </a:xfrm>
          <a:prstGeom prst="roundRect">
            <a:avLst/>
          </a:prstGeom>
          <a:solidFill>
            <a:srgbClr val="FF6496"/>
          </a:solidFill>
          <a:ln>
            <a:solidFill>
              <a:srgbClr val="8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  <a:latin typeface="Impact"/>
              </a:defRPr>
            </a:pPr>
            <a:r>
              <a:t>EXAMPLE 2</a:t>
            </a:r>
          </a:p>
          <a:p>
            <a:r>
              <a:t>Startup Success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1371600"/>
            <a:ext cx="2286000" cy="1097280"/>
          </a:xfrm>
          <a:prstGeom prst="roundRect">
            <a:avLst/>
          </a:prstGeom>
          <a:solidFill>
            <a:srgbClr val="FF6496"/>
          </a:solidFill>
          <a:ln>
            <a:solidFill>
              <a:srgbClr val="8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  <a:latin typeface="Impact"/>
              </a:defRPr>
            </a:pPr>
            <a:r>
              <a:t>EXAMPLE 3</a:t>
            </a:r>
          </a:p>
          <a:p>
            <a:r>
              <a:t>Global Impact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200400"/>
            <a:ext cx="2286000" cy="1097280"/>
          </a:xfrm>
          <a:prstGeom prst="roundRect">
            <a:avLst/>
          </a:prstGeom>
          <a:solidFill>
            <a:srgbClr val="FF6496"/>
          </a:solidFill>
          <a:ln>
            <a:solidFill>
              <a:srgbClr val="8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  <a:latin typeface="Impact"/>
              </a:defRPr>
            </a:pPr>
            <a:r>
              <a:t>EXAMPLE 4</a:t>
            </a:r>
          </a:p>
          <a:p>
            <a:r>
              <a:t>Innovation Hub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3200400"/>
            <a:ext cx="2286000" cy="1097280"/>
          </a:xfrm>
          <a:prstGeom prst="roundRect">
            <a:avLst/>
          </a:prstGeom>
          <a:solidFill>
            <a:srgbClr val="FF6496"/>
          </a:solidFill>
          <a:ln>
            <a:solidFill>
              <a:srgbClr val="8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  <a:latin typeface="Impact"/>
              </a:defRPr>
            </a:pPr>
            <a:r>
              <a:t>EXAMPLE 5</a:t>
            </a:r>
          </a:p>
          <a:p>
            <a:r>
              <a:t>Future Ready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3200400"/>
            <a:ext cx="2286000" cy="1097280"/>
          </a:xfrm>
          <a:prstGeom prst="roundRect">
            <a:avLst/>
          </a:prstGeom>
          <a:solidFill>
            <a:srgbClr val="FF6496"/>
          </a:solidFill>
          <a:ln>
            <a:solidFill>
              <a:srgbClr val="8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  <a:latin typeface="Impact"/>
              </a:defRPr>
            </a:pPr>
            <a:r>
              <a:t>EXAMPLE 6</a:t>
            </a:r>
          </a:p>
          <a:p>
            <a:r>
              <a:t>Best Practice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C143C"/>
                </a:solidFill>
                <a:latin typeface="Impact"/>
              </a:defRPr>
            </a:pPr>
            <a:r>
              <a:t>Advantages &amp; Disadvantages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3657600" cy="4114800"/>
          </a:xfrm>
          <a:prstGeom prst="roundRect">
            <a:avLst/>
          </a:prstGeom>
          <a:solidFill>
            <a:srgbClr val="DCFFDC"/>
          </a:solidFill>
          <a:ln w="25400"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 b="1">
                <a:solidFill>
                  <a:srgbClr val="008000"/>
                </a:solidFill>
                <a:latin typeface="Impact"/>
              </a:defRPr>
            </a:pPr>
            <a:r>
              <a:t>✓ ADVANTAGES</a:t>
            </a:r>
          </a:p>
          <a:p>
            <a:pPr>
              <a:defRPr sz="1600">
                <a:solidFill>
                  <a:srgbClr val="323232"/>
                </a:solidFill>
                <a:latin typeface="Impact"/>
              </a:defRPr>
            </a:pPr>
            <a:r>
              <a:t>  • High Efficiency</a:t>
            </a:r>
          </a:p>
          <a:p>
            <a:pPr>
              <a:defRPr sz="1600">
                <a:solidFill>
                  <a:srgbClr val="323232"/>
                </a:solidFill>
                <a:latin typeface="Impact"/>
              </a:defRPr>
            </a:pPr>
            <a:r>
              <a:t>  • Cost Effective</a:t>
            </a:r>
          </a:p>
          <a:p>
            <a:pPr>
              <a:defRPr sz="1600">
                <a:solidFill>
                  <a:srgbClr val="323232"/>
                </a:solidFill>
                <a:latin typeface="Impact"/>
              </a:defRPr>
            </a:pPr>
            <a:r>
              <a:t>  • User Friendly</a:t>
            </a:r>
          </a:p>
          <a:p>
            <a:pPr>
              <a:defRPr sz="1600">
                <a:solidFill>
                  <a:srgbClr val="323232"/>
                </a:solidFill>
                <a:latin typeface="Impact"/>
              </a:defRPr>
            </a:pPr>
            <a:r>
              <a:t>  • Scalable</a:t>
            </a:r>
          </a:p>
          <a:p>
            <a:pPr>
              <a:defRPr sz="1600">
                <a:solidFill>
                  <a:srgbClr val="323232"/>
                </a:solidFill>
                <a:latin typeface="Impact"/>
              </a:defRPr>
            </a:pPr>
            <a:r>
              <a:t>  • Secure</a:t>
            </a:r>
          </a:p>
          <a:p>
            <a:pPr>
              <a:defRPr sz="1600">
                <a:solidFill>
                  <a:srgbClr val="323232"/>
                </a:solidFill>
                <a:latin typeface="Impact"/>
              </a:defRPr>
            </a:pPr>
            <a:r>
              <a:t>  • Reliable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097280"/>
            <a:ext cx="3657600" cy="4114800"/>
          </a:xfrm>
          <a:prstGeom prst="roundRect">
            <a:avLst/>
          </a:prstGeom>
          <a:solidFill>
            <a:srgbClr val="FFDCDC"/>
          </a:solidFill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 b="1">
                <a:solidFill>
                  <a:srgbClr val="FF0000"/>
                </a:solidFill>
                <a:latin typeface="Impact"/>
              </a:defRPr>
            </a:pPr>
            <a:r>
              <a:t>✗ DISADVANTAGES</a:t>
            </a:r>
          </a:p>
          <a:p>
            <a:pPr>
              <a:defRPr sz="1600">
                <a:solidFill>
                  <a:srgbClr val="323232"/>
                </a:solidFill>
                <a:latin typeface="Impact"/>
              </a:defRPr>
            </a:pPr>
            <a:r>
              <a:t>  • High Initial Cost</a:t>
            </a:r>
          </a:p>
          <a:p>
            <a:pPr>
              <a:defRPr sz="1600">
                <a:solidFill>
                  <a:srgbClr val="323232"/>
                </a:solidFill>
                <a:latin typeface="Impact"/>
              </a:defRPr>
            </a:pPr>
            <a:r>
              <a:t>  • Learning Curve</a:t>
            </a:r>
          </a:p>
          <a:p>
            <a:pPr>
              <a:defRPr sz="1600">
                <a:solidFill>
                  <a:srgbClr val="323232"/>
                </a:solidFill>
                <a:latin typeface="Impact"/>
              </a:defRPr>
            </a:pPr>
            <a:r>
              <a:t>  • Maintenance</a:t>
            </a:r>
          </a:p>
          <a:p>
            <a:pPr>
              <a:defRPr sz="1600">
                <a:solidFill>
                  <a:srgbClr val="323232"/>
                </a:solidFill>
                <a:latin typeface="Impact"/>
              </a:defRPr>
            </a:pPr>
            <a:r>
              <a:t>  • Integration Issues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C143C"/>
                </a:solidFill>
                <a:latin typeface="Impact"/>
              </a:defRPr>
            </a:pPr>
            <a:r>
              <a:t>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DC143C"/>
                </a:solidFill>
                <a:latin typeface="Impact"/>
              </a:defRPr>
            </a:pPr>
            <a:r>
              <a:t>KEY APPLICATIONS:</a:t>
            </a:r>
          </a:p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  <a:latin typeface="Impact"/>
              </a:defRPr>
            </a:pPr>
            <a:r>
              <a:t>1. Healthcare &amp; Medical Diagnosis</a:t>
            </a:r>
          </a:p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  <a:latin typeface="Impact"/>
              </a:defRPr>
            </a:pPr>
            <a:r>
              <a:t>2. Finance &amp; Banking Security</a:t>
            </a:r>
          </a:p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  <a:latin typeface="Impact"/>
              </a:defRPr>
            </a:pPr>
            <a:r>
              <a:t>3. Education &amp; E-Learning Platforms</a:t>
            </a:r>
          </a:p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  <a:latin typeface="Impact"/>
              </a:defRPr>
            </a:pPr>
            <a:r>
              <a:t>4. Manufacturing &amp; Supply Chain</a:t>
            </a:r>
          </a:p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  <a:latin typeface="Impact"/>
              </a:defRPr>
            </a:pPr>
            <a:r>
              <a:t>5. Retail &amp; Customer Experience</a:t>
            </a:r>
          </a:p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  <a:latin typeface="Impact"/>
              </a:defRPr>
            </a:pPr>
            <a:r>
              <a:t>6. Transportation &amp; Logistics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DC143C"/>
                </a:solidFill>
                <a:latin typeface="Impact"/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  <a:latin typeface="Impact"/>
              </a:defRPr>
            </a:pPr>
            <a:r>
              <a:t>Summary of key points discussed</a:t>
            </a:r>
          </a:p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  <a:latin typeface="Impact"/>
              </a:defRPr>
            </a:pPr>
            <a:r>
              <a:t>Main takeaways and insights</a:t>
            </a:r>
          </a:p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  <a:latin typeface="Impact"/>
              </a:defRPr>
            </a:pPr>
            <a:r>
              <a:t>Strategic recommendations</a:t>
            </a:r>
          </a:p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  <a:latin typeface="Impact"/>
              </a:defRPr>
            </a:pPr>
            <a:r>
              <a:t>Call to action</a:t>
            </a:r>
          </a:p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  <a:latin typeface="Impact"/>
              </a:defRPr>
            </a:pPr>
            <a:r>
              <a:t>Next steps for implementation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DC143C"/>
                </a:solidFill>
              </a:defRPr>
            </a:pPr>
            <a:r>
              <a:t>Additional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latin typeface="Impact"/>
              </a:defRPr>
            </a:pPr>
            <a:r>
              <a:t>Key point 1</a:t>
            </a:r>
          </a:p>
          <a:p>
            <a:pPr>
              <a:spcAft>
                <a:spcPts val="1000"/>
              </a:spcAft>
              <a:defRPr sz="2000">
                <a:latin typeface="Impact"/>
              </a:defRPr>
            </a:pPr>
            <a:r>
              <a:t>Key point 2</a:t>
            </a:r>
          </a:p>
          <a:p>
            <a:pPr>
              <a:spcAft>
                <a:spcPts val="1000"/>
              </a:spcAft>
              <a:defRPr sz="2000">
                <a:latin typeface="Impact"/>
              </a:defRPr>
            </a:pPr>
            <a:r>
              <a:t>Key point 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DC143C"/>
                </a:solidFill>
              </a:defRPr>
            </a:pPr>
            <a:r>
              <a:t>Additional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latin typeface="Impact"/>
              </a:defRPr>
            </a:pPr>
            <a:r>
              <a:t>Key point 1</a:t>
            </a:r>
          </a:p>
          <a:p>
            <a:pPr>
              <a:spcAft>
                <a:spcPts val="1000"/>
              </a:spcAft>
              <a:defRPr sz="2000">
                <a:latin typeface="Impact"/>
              </a:defRPr>
            </a:pPr>
            <a:r>
              <a:t>Key point 2</a:t>
            </a:r>
          </a:p>
          <a:p>
            <a:pPr>
              <a:spcAft>
                <a:spcPts val="1000"/>
              </a:spcAft>
              <a:defRPr sz="2000">
                <a:latin typeface="Impact"/>
              </a:defRPr>
            </a:pPr>
            <a:r>
              <a:t>Key point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