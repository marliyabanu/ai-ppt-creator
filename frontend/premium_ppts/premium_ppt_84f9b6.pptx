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688"/>
                </a:solidFill>
                <a:latin typeface="Arial"/>
              </a:defRPr>
            </a:pPr>
            <a:r>
              <a:t>Artificial Intelligence (AI)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05050"/>
                </a:solidFill>
              </a:defRPr>
            </a:pPr>
            <a:r>
              <a:t>Professional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6C6DA"/>
                </a:solidFill>
              </a:defRPr>
            </a:pPr>
            <a:r>
              <a:t>Created by B THASLIN FIRDOUS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78"/>
                </a:solidFill>
              </a:defRPr>
            </a:pPr>
            <a:r>
              <a:t>April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Title: Artificial Intelligence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Subtitle: Transforming the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688"/>
                </a:solidFill>
                <a:latin typeface="Arial"/>
              </a:defRPr>
            </a:pPr>
            <a:r>
              <a:t>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73152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 1: AI ..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91640" y="2788920"/>
            <a:ext cx="36576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 2: Mac..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788920"/>
            <a:ext cx="36576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 3: Use..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00600" y="2788920"/>
            <a:ext cx="36576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9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688"/>
                </a:solidFill>
                <a:latin typeface="Arial"/>
              </a:defRPr>
            </a:pPr>
            <a:r>
              <a:t>What is AI?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2286000"/>
            <a:ext cx="2743200" cy="914400"/>
          </a:xfrm>
          <a:prstGeom prst="roundRect">
            <a:avLst/>
          </a:prstGeom>
          <a:solidFill>
            <a:srgbClr val="009688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MAIN</a:t>
            </a:r>
          </a:p>
          <a:p>
            <a:r>
              <a:t>CONCEPT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1371600" y="1508760"/>
            <a:ext cx="2926080" cy="1234440"/>
          </a:xfrm>
          <a:prstGeom prst="line">
            <a:avLst/>
          </a:prstGeom>
          <a:ln w="2540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188720"/>
            <a:ext cx="1371600" cy="640080"/>
          </a:xfrm>
          <a:prstGeom prst="roundRect">
            <a:avLst/>
          </a:prstGeom>
          <a:solidFill>
            <a:srgbClr val="26C6DA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Point 1: AI ena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297680" y="1508760"/>
            <a:ext cx="2926080" cy="1234440"/>
          </a:xfrm>
          <a:prstGeom prst="line">
            <a:avLst/>
          </a:prstGeom>
          <a:ln w="2540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0" y="1188720"/>
            <a:ext cx="1371600" cy="640080"/>
          </a:xfrm>
          <a:prstGeom prst="roundRect">
            <a:avLst/>
          </a:prstGeom>
          <a:solidFill>
            <a:srgbClr val="26C6DA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Point 2: Perfor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371600" y="2743200"/>
            <a:ext cx="2926080" cy="1508759"/>
          </a:xfrm>
          <a:prstGeom prst="line">
            <a:avLst/>
          </a:prstGeom>
          <a:ln w="2540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3931920"/>
            <a:ext cx="1371600" cy="640080"/>
          </a:xfrm>
          <a:prstGeom prst="roundRect">
            <a:avLst/>
          </a:prstGeom>
          <a:solidFill>
            <a:srgbClr val="26C6DA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Point 3: Exampl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2743200"/>
            <a:ext cx="2926080" cy="1508759"/>
          </a:xfrm>
          <a:prstGeom prst="line">
            <a:avLst/>
          </a:prstGeom>
          <a:ln w="2540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3931920"/>
            <a:ext cx="1371600" cy="640080"/>
          </a:xfrm>
          <a:prstGeom prst="roundRect">
            <a:avLst/>
          </a:prstGeom>
          <a:solidFill>
            <a:srgbClr val="26C6DA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Idea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History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  Point 1: 1950 – Alan Turing introduced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74519"/>
            <a:ext cx="8229600" cy="64008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  Point 2: 1956 – First AI conference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82296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  Point 3: 2000s – Rapid growth of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29000"/>
            <a:ext cx="82296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  Feature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Types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1148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008000"/>
                </a:solidFill>
              </a:defRPr>
            </a:pPr>
            <a:r>
              <a:t>✓ PROS (ADVANTAGES)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Point 1: Narrow AI – specific tasks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Benefit 2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Benefit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4114800"/>
          </a:xfrm>
          <a:prstGeom prst="roundRect">
            <a:avLst/>
          </a:prstGeom>
          <a:solidFill>
            <a:srgbClr val="FFDCDC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0000"/>
                </a:solidFill>
              </a:defRPr>
            </a:pPr>
            <a:r>
              <a:t>✗ CONS (DISADVANTAGES)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Point 2: General AI – human-like intelligence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Point 3: Super AI – beyond human intelligence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Challenge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 How AI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✓ Point 1: Uses algorithms and data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✓ Point 2: Machine Learning learns from data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✓ Point 3: Deep Learning uses neural networks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✓ Key point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Applications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Point 1: Healthcare – diagnosis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Point 2: Education – smart learning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Point 3: Business – automation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688"/>
                </a:solidFill>
                <a:latin typeface="Arial"/>
              </a:defRPr>
            </a:pPr>
            <a:r>
              <a:t>AI in Daily Life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73152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 1: Vir..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91640" y="2788920"/>
            <a:ext cx="36576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 2: Rec..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788920"/>
            <a:ext cx="36576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 3: Cha..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00600" y="2788920"/>
            <a:ext cx="36576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9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688"/>
                </a:solidFill>
                <a:latin typeface="Arial"/>
              </a:defRPr>
            </a:pPr>
            <a:r>
              <a:t>AI in Healthcare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2286000"/>
            <a:ext cx="2743200" cy="914400"/>
          </a:xfrm>
          <a:prstGeom prst="roundRect">
            <a:avLst/>
          </a:prstGeom>
          <a:solidFill>
            <a:srgbClr val="009688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MAIN</a:t>
            </a:r>
          </a:p>
          <a:p>
            <a:r>
              <a:t>CONCEPT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1371600" y="1508760"/>
            <a:ext cx="2926080" cy="1234440"/>
          </a:xfrm>
          <a:prstGeom prst="line">
            <a:avLst/>
          </a:prstGeom>
          <a:ln w="2540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188720"/>
            <a:ext cx="1371600" cy="640080"/>
          </a:xfrm>
          <a:prstGeom prst="roundRect">
            <a:avLst/>
          </a:prstGeom>
          <a:solidFill>
            <a:srgbClr val="26C6DA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Point 1: Early 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297680" y="1508760"/>
            <a:ext cx="2926080" cy="1234440"/>
          </a:xfrm>
          <a:prstGeom prst="line">
            <a:avLst/>
          </a:prstGeom>
          <a:ln w="2540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0" y="1188720"/>
            <a:ext cx="1371600" cy="640080"/>
          </a:xfrm>
          <a:prstGeom prst="roundRect">
            <a:avLst/>
          </a:prstGeom>
          <a:solidFill>
            <a:srgbClr val="26C6DA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Point 2: Robot-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371600" y="2743200"/>
            <a:ext cx="2926080" cy="1508759"/>
          </a:xfrm>
          <a:prstGeom prst="line">
            <a:avLst/>
          </a:prstGeom>
          <a:ln w="2540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3931920"/>
            <a:ext cx="1371600" cy="640080"/>
          </a:xfrm>
          <a:prstGeom prst="roundRect">
            <a:avLst/>
          </a:prstGeom>
          <a:solidFill>
            <a:srgbClr val="26C6DA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Point 3: Person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2743200"/>
            <a:ext cx="2926080" cy="1508759"/>
          </a:xfrm>
          <a:prstGeom prst="line">
            <a:avLst/>
          </a:prstGeom>
          <a:ln w="25400">
            <a:solidFill>
              <a:srgbClr val="26C6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0" y="3931920"/>
            <a:ext cx="1371600" cy="640080"/>
          </a:xfrm>
          <a:prstGeom prst="roundRect">
            <a:avLst/>
          </a:prstGeom>
          <a:solidFill>
            <a:srgbClr val="26C6DA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Idea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AI in Education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  Point 1: Smart classrooms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74519"/>
            <a:ext cx="8229600" cy="64008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  Point 2: Personalized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8229600" cy="6400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  Point 3: Automated grading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29000"/>
            <a:ext cx="82296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  Feature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688"/>
                </a:solidFill>
              </a:defRPr>
            </a:pPr>
            <a:r>
              <a:t>Advantages of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4114800"/>
          </a:xfrm>
          <a:prstGeom prst="roundRect">
            <a:avLst/>
          </a:prstGeom>
          <a:solidFill>
            <a:srgbClr val="DCFFDC"/>
          </a:solidFill>
          <a:ln w="254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008000"/>
                </a:solidFill>
              </a:defRPr>
            </a:pPr>
            <a:r>
              <a:t>✓ PROS (ADVANTAGES)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Point 1: Saves time and effort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Benefit 2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Benefit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4114800"/>
          </a:xfrm>
          <a:prstGeom prst="roundRect">
            <a:avLst/>
          </a:prstGeom>
          <a:solidFill>
            <a:srgbClr val="FFDCDC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F0000"/>
                </a:solidFill>
              </a:defRPr>
            </a:pPr>
            <a:r>
              <a:t>✗ CONS (DISADVANTAGES)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Point 2: Works 24/7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Point 3: Reduces human errors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  • Challenge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96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Disadvantages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✓ Point 1: High development cost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✓ Point 2: Job loss due to automation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✓ Point 3: Lack of creativity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✓ Key point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Challenges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Point 1: Ethical issues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Point 2: Data privacy concerns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• Point 3: Algorithm bias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688"/>
                </a:solidFill>
                <a:latin typeface="Arial"/>
              </a:defRPr>
            </a:pPr>
            <a:r>
              <a:t>Future of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73152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 1: Sma..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691640" y="2788920"/>
            <a:ext cx="36576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 2: AI ..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788920"/>
            <a:ext cx="36576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Point 3: Bet..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00600" y="2788920"/>
            <a:ext cx="365760" cy="22860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0" y="26517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9" y="1645920"/>
            <a:ext cx="1645920" cy="73152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