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37160"/>
          </a:xfrm>
          <a:prstGeom prst="rect">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8229600" cy="1371600"/>
          </a:xfrm>
          <a:prstGeom prst="rect">
            <a:avLst/>
          </a:prstGeom>
          <a:noFill/>
        </p:spPr>
        <p:txBody>
          <a:bodyPr wrap="none">
            <a:spAutoFit/>
          </a:bodyPr>
          <a:lstStyle/>
          <a:p>
            <a:pPr algn="ctr">
              <a:defRPr sz="4400" b="1">
                <a:solidFill>
                  <a:srgbClr val="B40000"/>
                </a:solidFill>
                <a:latin typeface="Arial"/>
              </a:defRPr>
            </a:pPr>
            <a:r>
              <a:t>Artificial Intelligence (AI)</a:t>
            </a:r>
          </a:p>
        </p:txBody>
      </p:sp>
      <p:sp>
        <p:nvSpPr>
          <p:cNvPr id="4" name="TextBox 3"/>
          <p:cNvSpPr txBox="1"/>
          <p:nvPr/>
        </p:nvSpPr>
        <p:spPr>
          <a:xfrm>
            <a:off x="457200" y="3474720"/>
            <a:ext cx="8229600" cy="548640"/>
          </a:xfrm>
          <a:prstGeom prst="rect">
            <a:avLst/>
          </a:prstGeom>
          <a:noFill/>
        </p:spPr>
        <p:txBody>
          <a:bodyPr wrap="none">
            <a:spAutoFit/>
          </a:bodyPr>
          <a:lstStyle/>
          <a:p>
            <a:pPr algn="ctr">
              <a:defRPr sz="2200">
                <a:solidFill>
                  <a:srgbClr val="505050"/>
                </a:solidFill>
              </a:defRPr>
            </a:pPr>
            <a:r>
              <a:t>Professional Presentation</a:t>
            </a:r>
          </a:p>
        </p:txBody>
      </p:sp>
      <p:sp>
        <p:nvSpPr>
          <p:cNvPr id="5" name="TextBox 4"/>
          <p:cNvSpPr txBox="1"/>
          <p:nvPr/>
        </p:nvSpPr>
        <p:spPr>
          <a:xfrm>
            <a:off x="457200" y="4754880"/>
            <a:ext cx="8229600" cy="457200"/>
          </a:xfrm>
          <a:prstGeom prst="rect">
            <a:avLst/>
          </a:prstGeom>
          <a:noFill/>
        </p:spPr>
        <p:txBody>
          <a:bodyPr wrap="none">
            <a:spAutoFit/>
          </a:bodyPr>
          <a:lstStyle/>
          <a:p>
            <a:pPr algn="ctr">
              <a:defRPr sz="1600" b="1">
                <a:solidFill>
                  <a:srgbClr val="DC3232"/>
                </a:solidFill>
              </a:defRPr>
            </a:pPr>
            <a:r>
              <a:t>Created by B. THASLIN</a:t>
            </a:r>
          </a:p>
        </p:txBody>
      </p:sp>
      <p:sp>
        <p:nvSpPr>
          <p:cNvPr id="6" name="TextBox 5"/>
          <p:cNvSpPr txBox="1"/>
          <p:nvPr/>
        </p:nvSpPr>
        <p:spPr>
          <a:xfrm>
            <a:off x="457200" y="5486400"/>
            <a:ext cx="8229600" cy="365760"/>
          </a:xfrm>
          <a:prstGeom prst="rect">
            <a:avLst/>
          </a:prstGeom>
          <a:noFill/>
        </p:spPr>
        <p:txBody>
          <a:bodyPr wrap="none">
            <a:spAutoFit/>
          </a:bodyPr>
          <a:lstStyle/>
          <a:p>
            <a:pPr algn="ctr">
              <a:defRPr sz="1200">
                <a:solidFill>
                  <a:srgbClr val="787878"/>
                </a:solidFill>
              </a:defRPr>
            </a:pPr>
            <a:r>
              <a:t>April 17,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548640"/>
          </a:xfrm>
          <a:prstGeom prst="rect">
            <a:avLst/>
          </a:prstGeom>
          <a:noFill/>
        </p:spPr>
        <p:txBody>
          <a:bodyPr wrap="none">
            <a:spAutoFit/>
          </a:bodyPr>
          <a:lstStyle/>
          <a:p>
            <a:pPr>
              <a:defRPr sz="2800" b="1">
                <a:solidFill>
                  <a:srgbClr val="FFFFFF"/>
                </a:solidFill>
              </a:defRPr>
            </a:pPr>
            <a:r>
              <a:t>Introduction</a:t>
            </a:r>
          </a:p>
        </p:txBody>
      </p:sp>
      <p:sp>
        <p:nvSpPr>
          <p:cNvPr id="4" name="TextBox 3"/>
          <p:cNvSpPr txBox="1"/>
          <p:nvPr/>
        </p:nvSpPr>
        <p:spPr>
          <a:xfrm>
            <a:off x="548640" y="1097280"/>
            <a:ext cx="8046720" cy="5029200"/>
          </a:xfrm>
          <a:prstGeom prst="rect">
            <a:avLst/>
          </a:prstGeom>
          <a:noFill/>
        </p:spPr>
        <p:txBody>
          <a:bodyPr wrap="square">
            <a:spAutoFit/>
          </a:bodyPr>
          <a:lstStyle/>
          <a:p>
            <a:pPr>
              <a:spcAft>
                <a:spcPts val="1200"/>
              </a:spcAft>
              <a:defRPr sz="2400">
                <a:solidFill>
                  <a:srgbClr val="282828"/>
                </a:solidFill>
                <a:latin typeface="Calibri"/>
              </a:defRPr>
            </a:pPr>
            <a:r>
              <a:t>▶ Artificial Intelligence (AI) is the simulation of human intelligence in machines. These machines are designed to think, learn, and make decisions like humans. Today, AI is widely used in many technologies, making our lives easier and more efficient.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B40000"/>
                </a:solidFill>
              </a:defRPr>
            </a:pPr>
            <a:r>
              <a:t> What is AI?</a:t>
            </a:r>
          </a:p>
        </p:txBody>
      </p:sp>
      <p:sp>
        <p:nvSpPr>
          <p:cNvPr id="3" name="Rectangle 2"/>
          <p:cNvSpPr/>
          <p:nvPr/>
        </p:nvSpPr>
        <p:spPr>
          <a:xfrm>
            <a:off x="731520" y="2926080"/>
            <a:ext cx="7680960" cy="54864"/>
          </a:xfrm>
          <a:prstGeom prst="rect">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68680" y="2606040"/>
            <a:ext cx="502920" cy="5029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679192"/>
            <a:ext cx="411480" cy="365760"/>
          </a:xfrm>
          <a:prstGeom prst="rect">
            <a:avLst/>
          </a:prstGeom>
          <a:noFill/>
        </p:spPr>
        <p:txBody>
          <a:bodyPr wrap="none">
            <a:spAutoFit/>
          </a:bodyPr>
          <a:lstStyle/>
          <a:p>
            <a:pPr algn="ctr">
              <a:defRPr sz="1200" b="1">
                <a:solidFill>
                  <a:srgbClr val="FFFFFF"/>
                </a:solidFill>
              </a:defRPr>
            </a:pPr>
            <a:r>
              <a:t>1</a:t>
            </a:r>
          </a:p>
        </p:txBody>
      </p:sp>
      <p:sp>
        <p:nvSpPr>
          <p:cNvPr id="6" name="Rounded Rectangle 5"/>
          <p:cNvSpPr/>
          <p:nvPr/>
        </p:nvSpPr>
        <p:spPr>
          <a:xfrm>
            <a:off x="365759" y="1371600"/>
            <a:ext cx="1463040" cy="91440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AI is</a:t>
            </a:r>
          </a:p>
          <a:p>
            <a:r>
              <a:t>a technology</a:t>
            </a:r>
          </a:p>
        </p:txBody>
      </p:sp>
      <p:sp>
        <p:nvSpPr>
          <p:cNvPr id="7" name="Right Arrow 6"/>
          <p:cNvSpPr/>
          <p:nvPr/>
        </p:nvSpPr>
        <p:spPr>
          <a:xfrm>
            <a:off x="1371600" y="2724912"/>
            <a:ext cx="320040" cy="182880"/>
          </a:xfrm>
          <a:prstGeom prst="rightArrow">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331720" y="2606040"/>
            <a:ext cx="502920" cy="5029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95727" y="2679192"/>
            <a:ext cx="411480" cy="365760"/>
          </a:xfrm>
          <a:prstGeom prst="rect">
            <a:avLst/>
          </a:prstGeom>
          <a:noFill/>
        </p:spPr>
        <p:txBody>
          <a:bodyPr wrap="none">
            <a:spAutoFit/>
          </a:bodyPr>
          <a:lstStyle/>
          <a:p>
            <a:pPr algn="ctr">
              <a:defRPr sz="1200" b="1">
                <a:solidFill>
                  <a:srgbClr val="FFFFFF"/>
                </a:solidFill>
              </a:defRPr>
            </a:pPr>
            <a:r>
              <a:t>2</a:t>
            </a:r>
          </a:p>
        </p:txBody>
      </p:sp>
      <p:sp>
        <p:nvSpPr>
          <p:cNvPr id="10" name="Rounded Rectangle 9"/>
          <p:cNvSpPr/>
          <p:nvPr/>
        </p:nvSpPr>
        <p:spPr>
          <a:xfrm>
            <a:off x="1828799" y="1371600"/>
            <a:ext cx="1463040" cy="91440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2</a:t>
            </a:r>
          </a:p>
        </p:txBody>
      </p:sp>
      <p:sp>
        <p:nvSpPr>
          <p:cNvPr id="11" name="Right Arrow 10"/>
          <p:cNvSpPr/>
          <p:nvPr/>
        </p:nvSpPr>
        <p:spPr>
          <a:xfrm>
            <a:off x="2834639" y="2724912"/>
            <a:ext cx="320040" cy="182880"/>
          </a:xfrm>
          <a:prstGeom prst="rightArrow">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794760" y="2606040"/>
            <a:ext cx="502920" cy="5029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58768" y="2679192"/>
            <a:ext cx="411480" cy="365760"/>
          </a:xfrm>
          <a:prstGeom prst="rect">
            <a:avLst/>
          </a:prstGeom>
          <a:noFill/>
        </p:spPr>
        <p:txBody>
          <a:bodyPr wrap="none">
            <a:spAutoFit/>
          </a:bodyPr>
          <a:lstStyle/>
          <a:p>
            <a:pPr algn="ctr">
              <a:defRPr sz="1200" b="1">
                <a:solidFill>
                  <a:srgbClr val="FFFFFF"/>
                </a:solidFill>
              </a:defRPr>
            </a:pPr>
            <a:r>
              <a:t>3</a:t>
            </a:r>
          </a:p>
        </p:txBody>
      </p:sp>
      <p:sp>
        <p:nvSpPr>
          <p:cNvPr id="14" name="Rounded Rectangle 13"/>
          <p:cNvSpPr/>
          <p:nvPr/>
        </p:nvSpPr>
        <p:spPr>
          <a:xfrm>
            <a:off x="3291840" y="1371600"/>
            <a:ext cx="1463040" cy="91440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3</a:t>
            </a:r>
          </a:p>
        </p:txBody>
      </p:sp>
      <p:sp>
        <p:nvSpPr>
          <p:cNvPr id="15" name="Right Arrow 14"/>
          <p:cNvSpPr/>
          <p:nvPr/>
        </p:nvSpPr>
        <p:spPr>
          <a:xfrm>
            <a:off x="4297680" y="2724912"/>
            <a:ext cx="320040" cy="182880"/>
          </a:xfrm>
          <a:prstGeom prst="rightArrow">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7800" y="2606040"/>
            <a:ext cx="502920" cy="5029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21808" y="2679192"/>
            <a:ext cx="411480" cy="365760"/>
          </a:xfrm>
          <a:prstGeom prst="rect">
            <a:avLst/>
          </a:prstGeom>
          <a:noFill/>
        </p:spPr>
        <p:txBody>
          <a:bodyPr wrap="none">
            <a:spAutoFit/>
          </a:bodyPr>
          <a:lstStyle/>
          <a:p>
            <a:pPr algn="ctr">
              <a:defRPr sz="1200" b="1">
                <a:solidFill>
                  <a:srgbClr val="FFFFFF"/>
                </a:solidFill>
              </a:defRPr>
            </a:pPr>
            <a:r>
              <a:t>4</a:t>
            </a:r>
          </a:p>
        </p:txBody>
      </p:sp>
      <p:sp>
        <p:nvSpPr>
          <p:cNvPr id="18" name="Rounded Rectangle 17"/>
          <p:cNvSpPr/>
          <p:nvPr/>
        </p:nvSpPr>
        <p:spPr>
          <a:xfrm>
            <a:off x="4754880" y="1371600"/>
            <a:ext cx="1463040" cy="91440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B40000"/>
                </a:solidFill>
              </a:defRPr>
            </a:pPr>
            <a:r>
              <a:t>History of AI</a:t>
            </a:r>
          </a:p>
        </p:txBody>
      </p:sp>
      <p:sp>
        <p:nvSpPr>
          <p:cNvPr id="3" name="Rounded Rectangle 2"/>
          <p:cNvSpPr/>
          <p:nvPr/>
        </p:nvSpPr>
        <p:spPr>
          <a:xfrm>
            <a:off x="2926080" y="2286000"/>
            <a:ext cx="2926080" cy="914400"/>
          </a:xfrm>
          <a:prstGeom prst="roundRect">
            <a:avLst/>
          </a:prstGeom>
          <a:solidFill>
            <a:srgbClr val="B40000"/>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MAIN</a:t>
            </a:r>
          </a:p>
          <a:p>
            <a:r>
              <a:t>CONCEPT</a:t>
            </a:r>
          </a:p>
        </p:txBody>
      </p:sp>
      <p:cxnSp>
        <p:nvCxnSpPr>
          <p:cNvPr id="4" name="Connector 3"/>
          <p:cNvCxnSpPr/>
          <p:nvPr/>
        </p:nvCxnSpPr>
        <p:spPr>
          <a:xfrm flipH="1" flipV="1">
            <a:off x="1371600" y="1737360"/>
            <a:ext cx="3017520" cy="1005840"/>
          </a:xfrm>
          <a:prstGeom prst="line">
            <a:avLst/>
          </a:prstGeom>
          <a:ln w="25400">
            <a:solidFill>
              <a:srgbClr val="DC323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371600"/>
            <a:ext cx="1645920" cy="731520"/>
          </a:xfrm>
          <a:prstGeom prst="roundRect">
            <a:avLst/>
          </a:prstGeom>
          <a:solidFill>
            <a:srgbClr val="DC3232"/>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The concept of AI ..</a:t>
            </a:r>
          </a:p>
        </p:txBody>
      </p:sp>
      <p:cxnSp>
        <p:nvCxnSpPr>
          <p:cNvPr id="6" name="Connector 5"/>
          <p:cNvCxnSpPr/>
          <p:nvPr/>
        </p:nvCxnSpPr>
        <p:spPr>
          <a:xfrm flipV="1">
            <a:off x="4389120" y="1737360"/>
            <a:ext cx="3017520" cy="1005840"/>
          </a:xfrm>
          <a:prstGeom prst="line">
            <a:avLst/>
          </a:prstGeom>
          <a:ln w="25400">
            <a:solidFill>
              <a:srgbClr val="DC323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0" y="1371600"/>
            <a:ext cx="1645920" cy="731520"/>
          </a:xfrm>
          <a:prstGeom prst="roundRect">
            <a:avLst/>
          </a:prstGeom>
          <a:solidFill>
            <a:srgbClr val="DC3232"/>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Point 2</a:t>
            </a:r>
          </a:p>
        </p:txBody>
      </p:sp>
      <p:cxnSp>
        <p:nvCxnSpPr>
          <p:cNvPr id="8" name="Connector 7"/>
          <p:cNvCxnSpPr/>
          <p:nvPr/>
        </p:nvCxnSpPr>
        <p:spPr>
          <a:xfrm flipH="1">
            <a:off x="1371600" y="2743200"/>
            <a:ext cx="3017520" cy="1463040"/>
          </a:xfrm>
          <a:prstGeom prst="line">
            <a:avLst/>
          </a:prstGeom>
          <a:ln w="25400">
            <a:solidFill>
              <a:srgbClr val="DC323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3840480"/>
            <a:ext cx="1645920" cy="731520"/>
          </a:xfrm>
          <a:prstGeom prst="roundRect">
            <a:avLst/>
          </a:prstGeom>
          <a:solidFill>
            <a:srgbClr val="DC3232"/>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Point 3</a:t>
            </a:r>
          </a:p>
        </p:txBody>
      </p:sp>
      <p:cxnSp>
        <p:nvCxnSpPr>
          <p:cNvPr id="10" name="Connector 9"/>
          <p:cNvCxnSpPr/>
          <p:nvPr/>
        </p:nvCxnSpPr>
        <p:spPr>
          <a:xfrm>
            <a:off x="4389120" y="2743200"/>
            <a:ext cx="3017520" cy="1463040"/>
          </a:xfrm>
          <a:prstGeom prst="line">
            <a:avLst/>
          </a:prstGeom>
          <a:ln w="25400">
            <a:solidFill>
              <a:srgbClr val="DC323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583680" y="3840480"/>
            <a:ext cx="1645920" cy="731520"/>
          </a:xfrm>
          <a:prstGeom prst="roundRect">
            <a:avLst/>
          </a:prstGeom>
          <a:solidFill>
            <a:srgbClr val="DC3232"/>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Point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B40000"/>
                </a:solidFill>
              </a:defRPr>
            </a:pPr>
            <a:r>
              <a:t> Types of AI</a:t>
            </a:r>
          </a:p>
        </p:txBody>
      </p:sp>
      <p:sp>
        <p:nvSpPr>
          <p:cNvPr id="3" name="Rounded Rectangle 2"/>
          <p:cNvSpPr/>
          <p:nvPr/>
        </p:nvSpPr>
        <p:spPr>
          <a:xfrm>
            <a:off x="457200" y="1097280"/>
            <a:ext cx="8229600" cy="594360"/>
          </a:xfrm>
          <a:prstGeom prst="roundRect">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defRPr sz="1300" b="1">
                <a:solidFill>
                  <a:srgbClr val="FFFFFF"/>
                </a:solidFill>
              </a:defRPr>
            </a:pPr>
            <a:r>
              <a:t>01  There are three main types of AI. Narrow AI is ...</a:t>
            </a:r>
          </a:p>
        </p:txBody>
      </p:sp>
      <p:sp>
        <p:nvSpPr>
          <p:cNvPr id="4" name="Rounded Rectangle 3"/>
          <p:cNvSpPr/>
          <p:nvPr/>
        </p:nvSpPr>
        <p:spPr>
          <a:xfrm>
            <a:off x="457200" y="1828800"/>
            <a:ext cx="8229600" cy="59436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defRPr sz="1300" b="1">
                <a:solidFill>
                  <a:srgbClr val="FFFFFF"/>
                </a:solidFill>
              </a:defRPr>
            </a:pPr>
            <a:r>
              <a:t>02  Feature 2</a:t>
            </a:r>
          </a:p>
        </p:txBody>
      </p:sp>
      <p:sp>
        <p:nvSpPr>
          <p:cNvPr id="5" name="Rounded Rectangle 4"/>
          <p:cNvSpPr/>
          <p:nvPr/>
        </p:nvSpPr>
        <p:spPr>
          <a:xfrm>
            <a:off x="457200" y="2560320"/>
            <a:ext cx="8229600" cy="59436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defRPr sz="1300" b="1">
                <a:solidFill>
                  <a:srgbClr val="FFFFFF"/>
                </a:solidFill>
              </a:defRPr>
            </a:pPr>
            <a:r>
              <a:t>03  Feature 3</a:t>
            </a:r>
          </a:p>
        </p:txBody>
      </p:sp>
      <p:sp>
        <p:nvSpPr>
          <p:cNvPr id="6" name="Rounded Rectangle 5"/>
          <p:cNvSpPr/>
          <p:nvPr/>
        </p:nvSpPr>
        <p:spPr>
          <a:xfrm>
            <a:off x="457200" y="3291840"/>
            <a:ext cx="8229600" cy="59436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defRPr sz="1300" b="1">
                <a:solidFill>
                  <a:srgbClr val="FFFFFF"/>
                </a:solidFill>
              </a:defRPr>
            </a:pPr>
            <a:r>
              <a:t>04  Feature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B40000"/>
                </a:solidFill>
              </a:defRPr>
            </a:pPr>
            <a:r>
              <a:t> How AI Work</a:t>
            </a:r>
          </a:p>
        </p:txBody>
      </p:sp>
      <p:sp>
        <p:nvSpPr>
          <p:cNvPr id="3" name="Rounded Rectangle 2"/>
          <p:cNvSpPr/>
          <p:nvPr/>
        </p:nvSpPr>
        <p:spPr>
          <a:xfrm>
            <a:off x="457200" y="1097280"/>
            <a:ext cx="3931920" cy="4389120"/>
          </a:xfrm>
          <a:prstGeom prst="roundRect">
            <a:avLst/>
          </a:prstGeom>
          <a:solidFill>
            <a:srgbClr val="DCFFDC"/>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2200" b="1">
                <a:solidFill>
                  <a:srgbClr val="008000"/>
                </a:solidFill>
              </a:defRPr>
            </a:pPr>
            <a:r>
              <a:t>✓ PROS</a:t>
            </a:r>
          </a:p>
          <a:p>
            <a:pPr>
              <a:spcAft>
                <a:spcPts val="800"/>
              </a:spcAft>
              <a:defRPr sz="1200">
                <a:solidFill>
                  <a:srgbClr val="323232"/>
                </a:solidFill>
              </a:defRPr>
            </a:pPr>
            <a:r>
              <a:t>  • Benefit 1</a:t>
            </a:r>
          </a:p>
          <a:p>
            <a:pPr>
              <a:spcAft>
                <a:spcPts val="800"/>
              </a:spcAft>
              <a:defRPr sz="1200">
                <a:solidFill>
                  <a:srgbClr val="323232"/>
                </a:solidFill>
              </a:defRPr>
            </a:pPr>
            <a:r>
              <a:t>  • Benefit 2</a:t>
            </a:r>
          </a:p>
          <a:p>
            <a:pPr>
              <a:spcAft>
                <a:spcPts val="800"/>
              </a:spcAft>
              <a:defRPr sz="1200">
                <a:solidFill>
                  <a:srgbClr val="323232"/>
                </a:solidFill>
              </a:defRPr>
            </a:pPr>
            <a:r>
              <a:t>  • Benefit 3</a:t>
            </a:r>
          </a:p>
        </p:txBody>
      </p:sp>
      <p:sp>
        <p:nvSpPr>
          <p:cNvPr id="4" name="Rounded Rectangle 3"/>
          <p:cNvSpPr/>
          <p:nvPr/>
        </p:nvSpPr>
        <p:spPr>
          <a:xfrm>
            <a:off x="4754880" y="1097280"/>
            <a:ext cx="3931920" cy="4389120"/>
          </a:xfrm>
          <a:prstGeom prst="roundRect">
            <a:avLst/>
          </a:prstGeom>
          <a:solidFill>
            <a:srgbClr val="FFDCDC"/>
          </a:solid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2200" b="1">
                <a:solidFill>
                  <a:srgbClr val="FF0000"/>
                </a:solidFill>
              </a:defRPr>
            </a:pPr>
            <a:r>
              <a:t>✗ CONS</a:t>
            </a:r>
          </a:p>
          <a:p>
            <a:pPr>
              <a:spcAft>
                <a:spcPts val="800"/>
              </a:spcAft>
              <a:defRPr sz="1200">
                <a:solidFill>
                  <a:srgbClr val="323232"/>
                </a:solidFill>
              </a:defRPr>
            </a:pPr>
            <a:r>
              <a:t>  • AI works using algorithms and la...</a:t>
            </a:r>
          </a:p>
          <a:p>
            <a:pPr>
              <a:spcAft>
                <a:spcPts val="800"/>
              </a:spcAft>
              <a:defRPr sz="1200">
                <a:solidFill>
                  <a:srgbClr val="323232"/>
                </a:solidFill>
              </a:defRPr>
            </a:pPr>
            <a:r>
              <a:t>  • Challenge 2</a:t>
            </a:r>
          </a:p>
          <a:p>
            <a:pPr>
              <a:spcAft>
                <a:spcPts val="800"/>
              </a:spcAft>
              <a:defRPr sz="1200">
                <a:solidFill>
                  <a:srgbClr val="323232"/>
                </a:solidFill>
              </a:defRPr>
            </a:pPr>
            <a:r>
              <a:t>  • Challenge 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B40000"/>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lgn="ctr">
              <a:defRPr sz="3600" b="1">
                <a:solidFill>
                  <a:srgbClr val="FFFFFF"/>
                </a:solidFill>
              </a:defRPr>
            </a:pPr>
            <a:r>
              <a:t>Applications of AI</a:t>
            </a:r>
          </a:p>
        </p:txBody>
      </p:sp>
      <p:sp>
        <p:nvSpPr>
          <p:cNvPr id="3" name="TextBox 2"/>
          <p:cNvSpPr txBox="1"/>
          <p:nvPr/>
        </p:nvSpPr>
        <p:spPr>
          <a:xfrm>
            <a:off x="548640" y="1371600"/>
            <a:ext cx="8046720" cy="4572000"/>
          </a:xfrm>
          <a:prstGeom prst="rect">
            <a:avLst/>
          </a:prstGeom>
          <a:noFill/>
        </p:spPr>
        <p:txBody>
          <a:bodyPr wrap="square">
            <a:spAutoFit/>
          </a:bodyPr>
          <a:lstStyle/>
          <a:p>
            <a:pPr>
              <a:spcAft>
                <a:spcPts val="1200"/>
              </a:spcAft>
              <a:defRPr sz="2000">
                <a:solidFill>
                  <a:srgbClr val="FFFFFF"/>
                </a:solidFill>
              </a:defRPr>
            </a:pPr>
            <a:r>
              <a:t>✓ AI is used in various fields such as healthcare...</a:t>
            </a:r>
          </a:p>
          <a:p>
            <a:pPr>
              <a:spcAft>
                <a:spcPts val="1000"/>
              </a:spcAft>
              <a:defRPr sz="2000">
                <a:solidFill>
                  <a:srgbClr val="FFFFFF"/>
                </a:solidFill>
              </a:defRPr>
            </a:pPr>
            <a:r>
              <a:t>✓ Key Point 2</a:t>
            </a:r>
          </a:p>
          <a:p>
            <a:pPr>
              <a:spcAft>
                <a:spcPts val="1000"/>
              </a:spcAft>
              <a:defRPr sz="2000">
                <a:solidFill>
                  <a:srgbClr val="FFFFFF"/>
                </a:solidFill>
              </a:defRPr>
            </a:pPr>
            <a:r>
              <a:t>✓ Key Point 3</a:t>
            </a:r>
          </a:p>
          <a:p>
            <a:pPr>
              <a:spcAft>
                <a:spcPts val="1000"/>
              </a:spcAft>
              <a:defRPr sz="2000">
                <a:solidFill>
                  <a:srgbClr val="FFFFFF"/>
                </a:solidFill>
              </a:defRPr>
            </a:pPr>
            <a:r>
              <a:t>✓ Key Point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548640"/>
          </a:xfrm>
          <a:prstGeom prst="rect">
            <a:avLst/>
          </a:prstGeom>
          <a:noFill/>
        </p:spPr>
        <p:txBody>
          <a:bodyPr wrap="none">
            <a:spAutoFit/>
          </a:bodyPr>
          <a:lstStyle/>
          <a:p>
            <a:pPr>
              <a:defRPr sz="2800" b="1">
                <a:solidFill>
                  <a:srgbClr val="FFFFFF"/>
                </a:solidFill>
              </a:defRPr>
            </a:pPr>
            <a:r>
              <a:t>AI in Daily Life</a:t>
            </a:r>
          </a:p>
        </p:txBody>
      </p:sp>
      <p:sp>
        <p:nvSpPr>
          <p:cNvPr id="4" name="TextBox 3"/>
          <p:cNvSpPr txBox="1"/>
          <p:nvPr/>
        </p:nvSpPr>
        <p:spPr>
          <a:xfrm>
            <a:off x="548640" y="1097280"/>
            <a:ext cx="8046720" cy="5029200"/>
          </a:xfrm>
          <a:prstGeom prst="rect">
            <a:avLst/>
          </a:prstGeom>
          <a:noFill/>
        </p:spPr>
        <p:txBody>
          <a:bodyPr wrap="square">
            <a:spAutoFit/>
          </a:bodyPr>
          <a:lstStyle/>
          <a:p>
            <a:pPr>
              <a:spcAft>
                <a:spcPts val="1200"/>
              </a:spcAft>
              <a:defRPr sz="2400">
                <a:solidFill>
                  <a:srgbClr val="282828"/>
                </a:solidFill>
                <a:latin typeface="Calibri"/>
              </a:defRPr>
            </a:pPr>
            <a:r>
              <a:t>▶ AI has become a part of our everyday life. Virtual assistants like Siri and Alexa help us with tasks. Platforms like Netflix suggest content based on preferences. Search engines and chatbots also use AI to improve user experience.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B40000"/>
                </a:solidFill>
              </a:defRPr>
            </a:pPr>
            <a:r>
              <a:t>AI in Healthcare</a:t>
            </a:r>
          </a:p>
        </p:txBody>
      </p:sp>
      <p:sp>
        <p:nvSpPr>
          <p:cNvPr id="3" name="Rectangle 2"/>
          <p:cNvSpPr/>
          <p:nvPr/>
        </p:nvSpPr>
        <p:spPr>
          <a:xfrm>
            <a:off x="731520" y="2926080"/>
            <a:ext cx="7680960" cy="54864"/>
          </a:xfrm>
          <a:prstGeom prst="rect">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68680" y="2606040"/>
            <a:ext cx="502920" cy="5029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679192"/>
            <a:ext cx="411480" cy="365760"/>
          </a:xfrm>
          <a:prstGeom prst="rect">
            <a:avLst/>
          </a:prstGeom>
          <a:noFill/>
        </p:spPr>
        <p:txBody>
          <a:bodyPr wrap="none">
            <a:spAutoFit/>
          </a:bodyPr>
          <a:lstStyle/>
          <a:p>
            <a:pPr algn="ctr">
              <a:defRPr sz="1200" b="1">
                <a:solidFill>
                  <a:srgbClr val="FFFFFF"/>
                </a:solidFill>
              </a:defRPr>
            </a:pPr>
            <a:r>
              <a:t>1</a:t>
            </a:r>
          </a:p>
        </p:txBody>
      </p:sp>
      <p:sp>
        <p:nvSpPr>
          <p:cNvPr id="6" name="Rounded Rectangle 5"/>
          <p:cNvSpPr/>
          <p:nvPr/>
        </p:nvSpPr>
        <p:spPr>
          <a:xfrm>
            <a:off x="365759" y="1371600"/>
            <a:ext cx="1463040" cy="91440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In healthcare,</a:t>
            </a:r>
          </a:p>
          <a:p>
            <a:r>
              <a:t>AI plays</a:t>
            </a:r>
          </a:p>
        </p:txBody>
      </p:sp>
      <p:sp>
        <p:nvSpPr>
          <p:cNvPr id="7" name="Right Arrow 6"/>
          <p:cNvSpPr/>
          <p:nvPr/>
        </p:nvSpPr>
        <p:spPr>
          <a:xfrm>
            <a:off x="1371600" y="2724912"/>
            <a:ext cx="320040" cy="182880"/>
          </a:xfrm>
          <a:prstGeom prst="rightArrow">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331720" y="2606040"/>
            <a:ext cx="502920" cy="5029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95727" y="2679192"/>
            <a:ext cx="411480" cy="365760"/>
          </a:xfrm>
          <a:prstGeom prst="rect">
            <a:avLst/>
          </a:prstGeom>
          <a:noFill/>
        </p:spPr>
        <p:txBody>
          <a:bodyPr wrap="none">
            <a:spAutoFit/>
          </a:bodyPr>
          <a:lstStyle/>
          <a:p>
            <a:pPr algn="ctr">
              <a:defRPr sz="1200" b="1">
                <a:solidFill>
                  <a:srgbClr val="FFFFFF"/>
                </a:solidFill>
              </a:defRPr>
            </a:pPr>
            <a:r>
              <a:t>2</a:t>
            </a:r>
          </a:p>
        </p:txBody>
      </p:sp>
      <p:sp>
        <p:nvSpPr>
          <p:cNvPr id="10" name="Rounded Rectangle 9"/>
          <p:cNvSpPr/>
          <p:nvPr/>
        </p:nvSpPr>
        <p:spPr>
          <a:xfrm>
            <a:off x="1828799" y="1371600"/>
            <a:ext cx="1463040" cy="91440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2</a:t>
            </a:r>
          </a:p>
        </p:txBody>
      </p:sp>
      <p:sp>
        <p:nvSpPr>
          <p:cNvPr id="11" name="Right Arrow 10"/>
          <p:cNvSpPr/>
          <p:nvPr/>
        </p:nvSpPr>
        <p:spPr>
          <a:xfrm>
            <a:off x="2834639" y="2724912"/>
            <a:ext cx="320040" cy="182880"/>
          </a:xfrm>
          <a:prstGeom prst="rightArrow">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794760" y="2606040"/>
            <a:ext cx="502920" cy="5029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58768" y="2679192"/>
            <a:ext cx="411480" cy="365760"/>
          </a:xfrm>
          <a:prstGeom prst="rect">
            <a:avLst/>
          </a:prstGeom>
          <a:noFill/>
        </p:spPr>
        <p:txBody>
          <a:bodyPr wrap="none">
            <a:spAutoFit/>
          </a:bodyPr>
          <a:lstStyle/>
          <a:p>
            <a:pPr algn="ctr">
              <a:defRPr sz="1200" b="1">
                <a:solidFill>
                  <a:srgbClr val="FFFFFF"/>
                </a:solidFill>
              </a:defRPr>
            </a:pPr>
            <a:r>
              <a:t>3</a:t>
            </a:r>
          </a:p>
        </p:txBody>
      </p:sp>
      <p:sp>
        <p:nvSpPr>
          <p:cNvPr id="14" name="Rounded Rectangle 13"/>
          <p:cNvSpPr/>
          <p:nvPr/>
        </p:nvSpPr>
        <p:spPr>
          <a:xfrm>
            <a:off x="3291840" y="1371600"/>
            <a:ext cx="1463040" cy="91440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3</a:t>
            </a:r>
          </a:p>
        </p:txBody>
      </p:sp>
      <p:sp>
        <p:nvSpPr>
          <p:cNvPr id="15" name="Right Arrow 14"/>
          <p:cNvSpPr/>
          <p:nvPr/>
        </p:nvSpPr>
        <p:spPr>
          <a:xfrm>
            <a:off x="4297680" y="2724912"/>
            <a:ext cx="320040" cy="182880"/>
          </a:xfrm>
          <a:prstGeom prst="rightArrow">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7800" y="2606040"/>
            <a:ext cx="502920" cy="5029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21808" y="2679192"/>
            <a:ext cx="411480" cy="365760"/>
          </a:xfrm>
          <a:prstGeom prst="rect">
            <a:avLst/>
          </a:prstGeom>
          <a:noFill/>
        </p:spPr>
        <p:txBody>
          <a:bodyPr wrap="none">
            <a:spAutoFit/>
          </a:bodyPr>
          <a:lstStyle/>
          <a:p>
            <a:pPr algn="ctr">
              <a:defRPr sz="1200" b="1">
                <a:solidFill>
                  <a:srgbClr val="FFFFFF"/>
                </a:solidFill>
              </a:defRPr>
            </a:pPr>
            <a:r>
              <a:t>4</a:t>
            </a:r>
          </a:p>
        </p:txBody>
      </p:sp>
      <p:sp>
        <p:nvSpPr>
          <p:cNvPr id="18" name="Rounded Rectangle 17"/>
          <p:cNvSpPr/>
          <p:nvPr/>
        </p:nvSpPr>
        <p:spPr>
          <a:xfrm>
            <a:off x="4754880" y="1371600"/>
            <a:ext cx="1463040" cy="91440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B40000"/>
                </a:solidFill>
              </a:defRPr>
            </a:pPr>
            <a:r>
              <a:t>AI in Education</a:t>
            </a:r>
          </a:p>
        </p:txBody>
      </p:sp>
      <p:sp>
        <p:nvSpPr>
          <p:cNvPr id="3" name="Rounded Rectangle 2"/>
          <p:cNvSpPr/>
          <p:nvPr/>
        </p:nvSpPr>
        <p:spPr>
          <a:xfrm>
            <a:off x="2926080" y="2286000"/>
            <a:ext cx="2926080" cy="914400"/>
          </a:xfrm>
          <a:prstGeom prst="roundRect">
            <a:avLst/>
          </a:prstGeom>
          <a:solidFill>
            <a:srgbClr val="B40000"/>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MAIN</a:t>
            </a:r>
          </a:p>
          <a:p>
            <a:r>
              <a:t>CONCEPT</a:t>
            </a:r>
          </a:p>
        </p:txBody>
      </p:sp>
      <p:cxnSp>
        <p:nvCxnSpPr>
          <p:cNvPr id="4" name="Connector 3"/>
          <p:cNvCxnSpPr/>
          <p:nvPr/>
        </p:nvCxnSpPr>
        <p:spPr>
          <a:xfrm flipH="1" flipV="1">
            <a:off x="1371600" y="1737360"/>
            <a:ext cx="3017520" cy="1005840"/>
          </a:xfrm>
          <a:prstGeom prst="line">
            <a:avLst/>
          </a:prstGeom>
          <a:ln w="25400">
            <a:solidFill>
              <a:srgbClr val="DC323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371600"/>
            <a:ext cx="1645920" cy="731520"/>
          </a:xfrm>
          <a:prstGeom prst="roundRect">
            <a:avLst/>
          </a:prstGeom>
          <a:solidFill>
            <a:srgbClr val="DC3232"/>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AI is transforming..</a:t>
            </a:r>
          </a:p>
        </p:txBody>
      </p:sp>
      <p:cxnSp>
        <p:nvCxnSpPr>
          <p:cNvPr id="6" name="Connector 5"/>
          <p:cNvCxnSpPr/>
          <p:nvPr/>
        </p:nvCxnSpPr>
        <p:spPr>
          <a:xfrm flipV="1">
            <a:off x="4389120" y="1737360"/>
            <a:ext cx="3017520" cy="1005840"/>
          </a:xfrm>
          <a:prstGeom prst="line">
            <a:avLst/>
          </a:prstGeom>
          <a:ln w="25400">
            <a:solidFill>
              <a:srgbClr val="DC323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0" y="1371600"/>
            <a:ext cx="1645920" cy="731520"/>
          </a:xfrm>
          <a:prstGeom prst="roundRect">
            <a:avLst/>
          </a:prstGeom>
          <a:solidFill>
            <a:srgbClr val="DC3232"/>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Point 2</a:t>
            </a:r>
          </a:p>
        </p:txBody>
      </p:sp>
      <p:cxnSp>
        <p:nvCxnSpPr>
          <p:cNvPr id="8" name="Connector 7"/>
          <p:cNvCxnSpPr/>
          <p:nvPr/>
        </p:nvCxnSpPr>
        <p:spPr>
          <a:xfrm flipH="1">
            <a:off x="1371600" y="2743200"/>
            <a:ext cx="3017520" cy="1463040"/>
          </a:xfrm>
          <a:prstGeom prst="line">
            <a:avLst/>
          </a:prstGeom>
          <a:ln w="25400">
            <a:solidFill>
              <a:srgbClr val="DC323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3840480"/>
            <a:ext cx="1645920" cy="731520"/>
          </a:xfrm>
          <a:prstGeom prst="roundRect">
            <a:avLst/>
          </a:prstGeom>
          <a:solidFill>
            <a:srgbClr val="DC3232"/>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Point 3</a:t>
            </a:r>
          </a:p>
        </p:txBody>
      </p:sp>
      <p:cxnSp>
        <p:nvCxnSpPr>
          <p:cNvPr id="10" name="Connector 9"/>
          <p:cNvCxnSpPr/>
          <p:nvPr/>
        </p:nvCxnSpPr>
        <p:spPr>
          <a:xfrm>
            <a:off x="4389120" y="2743200"/>
            <a:ext cx="3017520" cy="1463040"/>
          </a:xfrm>
          <a:prstGeom prst="line">
            <a:avLst/>
          </a:prstGeom>
          <a:ln w="25400">
            <a:solidFill>
              <a:srgbClr val="DC323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583680" y="3840480"/>
            <a:ext cx="1645920" cy="731520"/>
          </a:xfrm>
          <a:prstGeom prst="roundRect">
            <a:avLst/>
          </a:prstGeom>
          <a:solidFill>
            <a:srgbClr val="DC3232"/>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Point 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B40000"/>
                </a:solidFill>
              </a:defRPr>
            </a:pPr>
            <a:r>
              <a:t>Advantages of AI</a:t>
            </a:r>
          </a:p>
        </p:txBody>
      </p:sp>
      <p:sp>
        <p:nvSpPr>
          <p:cNvPr id="3" name="Rounded Rectangle 2"/>
          <p:cNvSpPr/>
          <p:nvPr/>
        </p:nvSpPr>
        <p:spPr>
          <a:xfrm>
            <a:off x="457200" y="1097280"/>
            <a:ext cx="8229600" cy="594360"/>
          </a:xfrm>
          <a:prstGeom prst="roundRect">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defRPr sz="1300" b="1">
                <a:solidFill>
                  <a:srgbClr val="FFFFFF"/>
                </a:solidFill>
              </a:defRPr>
            </a:pPr>
            <a:r>
              <a:t>01  AI offers many advantages, such as reducing hum...</a:t>
            </a:r>
          </a:p>
        </p:txBody>
      </p:sp>
      <p:sp>
        <p:nvSpPr>
          <p:cNvPr id="4" name="Rounded Rectangle 3"/>
          <p:cNvSpPr/>
          <p:nvPr/>
        </p:nvSpPr>
        <p:spPr>
          <a:xfrm>
            <a:off x="457200" y="1828800"/>
            <a:ext cx="8229600" cy="59436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defRPr sz="1300" b="1">
                <a:solidFill>
                  <a:srgbClr val="FFFFFF"/>
                </a:solidFill>
              </a:defRPr>
            </a:pPr>
            <a:r>
              <a:t>02  Feature 2</a:t>
            </a:r>
          </a:p>
        </p:txBody>
      </p:sp>
      <p:sp>
        <p:nvSpPr>
          <p:cNvPr id="5" name="Rounded Rectangle 4"/>
          <p:cNvSpPr/>
          <p:nvPr/>
        </p:nvSpPr>
        <p:spPr>
          <a:xfrm>
            <a:off x="457200" y="2560320"/>
            <a:ext cx="8229600" cy="59436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defRPr sz="1300" b="1">
                <a:solidFill>
                  <a:srgbClr val="FFFFFF"/>
                </a:solidFill>
              </a:defRPr>
            </a:pPr>
            <a:r>
              <a:t>03  Feature 3</a:t>
            </a:r>
          </a:p>
        </p:txBody>
      </p:sp>
      <p:sp>
        <p:nvSpPr>
          <p:cNvPr id="6" name="Rounded Rectangle 5"/>
          <p:cNvSpPr/>
          <p:nvPr/>
        </p:nvSpPr>
        <p:spPr>
          <a:xfrm>
            <a:off x="457200" y="3291840"/>
            <a:ext cx="8229600" cy="59436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defRPr sz="1300" b="1">
                <a:solidFill>
                  <a:srgbClr val="FFFFFF"/>
                </a:solidFill>
              </a:defRPr>
            </a:pPr>
            <a:r>
              <a:t>04  Feature 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B40000"/>
                </a:solidFill>
              </a:defRPr>
            </a:pPr>
            <a:r>
              <a:t>Disadvantages of AI</a:t>
            </a:r>
          </a:p>
        </p:txBody>
      </p:sp>
      <p:sp>
        <p:nvSpPr>
          <p:cNvPr id="3" name="Rounded Rectangle 2"/>
          <p:cNvSpPr/>
          <p:nvPr/>
        </p:nvSpPr>
        <p:spPr>
          <a:xfrm>
            <a:off x="457200" y="1097280"/>
            <a:ext cx="3931920" cy="4389120"/>
          </a:xfrm>
          <a:prstGeom prst="roundRect">
            <a:avLst/>
          </a:prstGeom>
          <a:solidFill>
            <a:srgbClr val="DCFFDC"/>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2200" b="1">
                <a:solidFill>
                  <a:srgbClr val="008000"/>
                </a:solidFill>
              </a:defRPr>
            </a:pPr>
            <a:r>
              <a:t>✓ PROS</a:t>
            </a:r>
          </a:p>
          <a:p>
            <a:pPr>
              <a:spcAft>
                <a:spcPts val="800"/>
              </a:spcAft>
              <a:defRPr sz="1200">
                <a:solidFill>
                  <a:srgbClr val="323232"/>
                </a:solidFill>
              </a:defRPr>
            </a:pPr>
            <a:r>
              <a:t>  • Benefit 1</a:t>
            </a:r>
          </a:p>
          <a:p>
            <a:pPr>
              <a:spcAft>
                <a:spcPts val="800"/>
              </a:spcAft>
              <a:defRPr sz="1200">
                <a:solidFill>
                  <a:srgbClr val="323232"/>
                </a:solidFill>
              </a:defRPr>
            </a:pPr>
            <a:r>
              <a:t>  • Benefit 2</a:t>
            </a:r>
          </a:p>
          <a:p>
            <a:pPr>
              <a:spcAft>
                <a:spcPts val="800"/>
              </a:spcAft>
              <a:defRPr sz="1200">
                <a:solidFill>
                  <a:srgbClr val="323232"/>
                </a:solidFill>
              </a:defRPr>
            </a:pPr>
            <a:r>
              <a:t>  • Benefit 3</a:t>
            </a:r>
          </a:p>
        </p:txBody>
      </p:sp>
      <p:sp>
        <p:nvSpPr>
          <p:cNvPr id="4" name="Rounded Rectangle 3"/>
          <p:cNvSpPr/>
          <p:nvPr/>
        </p:nvSpPr>
        <p:spPr>
          <a:xfrm>
            <a:off x="4754880" y="1097280"/>
            <a:ext cx="3931920" cy="4389120"/>
          </a:xfrm>
          <a:prstGeom prst="roundRect">
            <a:avLst/>
          </a:prstGeom>
          <a:solidFill>
            <a:srgbClr val="FFDCDC"/>
          </a:solid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defRPr sz="2200" b="1">
                <a:solidFill>
                  <a:srgbClr val="FF0000"/>
                </a:solidFill>
              </a:defRPr>
            </a:pPr>
            <a:r>
              <a:t>✗ CONS</a:t>
            </a:r>
          </a:p>
          <a:p>
            <a:pPr>
              <a:spcAft>
                <a:spcPts val="800"/>
              </a:spcAft>
              <a:defRPr sz="1200">
                <a:solidFill>
                  <a:srgbClr val="323232"/>
                </a:solidFill>
              </a:defRPr>
            </a:pPr>
            <a:r>
              <a:t>  • Despite its benefits, AI has som...</a:t>
            </a:r>
          </a:p>
          <a:p>
            <a:pPr>
              <a:spcAft>
                <a:spcPts val="800"/>
              </a:spcAft>
              <a:defRPr sz="1200">
                <a:solidFill>
                  <a:srgbClr val="323232"/>
                </a:solidFill>
              </a:defRPr>
            </a:pPr>
            <a:r>
              <a:t>  • Challenge 2</a:t>
            </a:r>
          </a:p>
          <a:p>
            <a:pPr>
              <a:spcAft>
                <a:spcPts val="800"/>
              </a:spcAft>
              <a:defRPr sz="1200">
                <a:solidFill>
                  <a:srgbClr val="323232"/>
                </a:solidFill>
              </a:defRPr>
            </a:pPr>
            <a:r>
              <a:t>  • Challenge 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B40000"/>
        </a:solidFill>
        <a:effectLst/>
      </p:bgPr>
    </p:bg>
    <p:spTree>
      <p:nvGrpSpPr>
        <p:cNvPr id="1" name=""/>
        <p:cNvGrpSpPr/>
        <p:nvPr/>
      </p:nvGrpSpPr>
      <p:grpSpPr/>
      <p:sp>
        <p:nvSpPr>
          <p:cNvPr id="2" name="TextBox 1"/>
          <p:cNvSpPr txBox="1"/>
          <p:nvPr/>
        </p:nvSpPr>
        <p:spPr>
          <a:xfrm>
            <a:off x="457200" y="457200"/>
            <a:ext cx="8229600" cy="731520"/>
          </a:xfrm>
          <a:prstGeom prst="rect">
            <a:avLst/>
          </a:prstGeom>
          <a:noFill/>
        </p:spPr>
        <p:txBody>
          <a:bodyPr wrap="none">
            <a:spAutoFit/>
          </a:bodyPr>
          <a:lstStyle/>
          <a:p>
            <a:pPr algn="ctr">
              <a:defRPr sz="3600" b="1">
                <a:solidFill>
                  <a:srgbClr val="FFFFFF"/>
                </a:solidFill>
              </a:defRPr>
            </a:pPr>
            <a:r>
              <a:t>Challenges of AI</a:t>
            </a:r>
          </a:p>
        </p:txBody>
      </p:sp>
      <p:sp>
        <p:nvSpPr>
          <p:cNvPr id="3" name="TextBox 2"/>
          <p:cNvSpPr txBox="1"/>
          <p:nvPr/>
        </p:nvSpPr>
        <p:spPr>
          <a:xfrm>
            <a:off x="548640" y="1371600"/>
            <a:ext cx="8046720" cy="4572000"/>
          </a:xfrm>
          <a:prstGeom prst="rect">
            <a:avLst/>
          </a:prstGeom>
          <a:noFill/>
        </p:spPr>
        <p:txBody>
          <a:bodyPr wrap="square">
            <a:spAutoFit/>
          </a:bodyPr>
          <a:lstStyle/>
          <a:p>
            <a:pPr>
              <a:spcAft>
                <a:spcPts val="1200"/>
              </a:spcAft>
              <a:defRPr sz="2000">
                <a:solidFill>
                  <a:srgbClr val="FFFFFF"/>
                </a:solidFill>
              </a:defRPr>
            </a:pPr>
            <a:r>
              <a:t>✓ AI faces several challenges, including ethical ...</a:t>
            </a:r>
          </a:p>
          <a:p>
            <a:pPr>
              <a:spcAft>
                <a:spcPts val="1000"/>
              </a:spcAft>
              <a:defRPr sz="2000">
                <a:solidFill>
                  <a:srgbClr val="FFFFFF"/>
                </a:solidFill>
              </a:defRPr>
            </a:pPr>
            <a:r>
              <a:t>✓ Key Point 2</a:t>
            </a:r>
          </a:p>
          <a:p>
            <a:pPr>
              <a:spcAft>
                <a:spcPts val="1000"/>
              </a:spcAft>
              <a:defRPr sz="2000">
                <a:solidFill>
                  <a:srgbClr val="FFFFFF"/>
                </a:solidFill>
              </a:defRPr>
            </a:pPr>
            <a:r>
              <a:t>✓ Key Point 3</a:t>
            </a:r>
          </a:p>
          <a:p>
            <a:pPr>
              <a:spcAft>
                <a:spcPts val="1000"/>
              </a:spcAft>
              <a:defRPr sz="2000">
                <a:solidFill>
                  <a:srgbClr val="FFFFFF"/>
                </a:solidFill>
              </a:defRPr>
            </a:pPr>
            <a:r>
              <a:t>✓ Key Point 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548640"/>
          </a:xfrm>
          <a:prstGeom prst="rect">
            <a:avLst/>
          </a:prstGeom>
          <a:noFill/>
        </p:spPr>
        <p:txBody>
          <a:bodyPr wrap="none">
            <a:spAutoFit/>
          </a:bodyPr>
          <a:lstStyle/>
          <a:p>
            <a:pPr>
              <a:defRPr sz="2800" b="1">
                <a:solidFill>
                  <a:srgbClr val="FFFFFF"/>
                </a:solidFill>
              </a:defRPr>
            </a:pPr>
            <a:r>
              <a:t>Future of AI</a:t>
            </a:r>
          </a:p>
        </p:txBody>
      </p:sp>
      <p:sp>
        <p:nvSpPr>
          <p:cNvPr id="4" name="TextBox 3"/>
          <p:cNvSpPr txBox="1"/>
          <p:nvPr/>
        </p:nvSpPr>
        <p:spPr>
          <a:xfrm>
            <a:off x="548640" y="1097280"/>
            <a:ext cx="8046720" cy="5029200"/>
          </a:xfrm>
          <a:prstGeom prst="rect">
            <a:avLst/>
          </a:prstGeom>
          <a:noFill/>
        </p:spPr>
        <p:txBody>
          <a:bodyPr wrap="square">
            <a:spAutoFit/>
          </a:bodyPr>
          <a:lstStyle/>
          <a:p>
            <a:pPr>
              <a:spcAft>
                <a:spcPts val="1200"/>
              </a:spcAft>
              <a:defRPr sz="2400">
                <a:solidFill>
                  <a:srgbClr val="282828"/>
                </a:solidFill>
                <a:latin typeface="Calibri"/>
              </a:defRPr>
            </a:pPr>
            <a:r>
              <a:t>▶ The future of AI is very promising. Machines are expected to become smarter and more efficient. AI will be used in almost every industry, and better collaboration between humans and AI systems will improve productivity.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B40000"/>
                </a:solidFill>
              </a:defRPr>
            </a:pPr>
            <a:r>
              <a:t>Conclusion</a:t>
            </a:r>
          </a:p>
        </p:txBody>
      </p:sp>
      <p:sp>
        <p:nvSpPr>
          <p:cNvPr id="3" name="Rectangle 2"/>
          <p:cNvSpPr/>
          <p:nvPr/>
        </p:nvSpPr>
        <p:spPr>
          <a:xfrm>
            <a:off x="731520" y="2926080"/>
            <a:ext cx="7680960" cy="54864"/>
          </a:xfrm>
          <a:prstGeom prst="rect">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68680" y="2606040"/>
            <a:ext cx="502920" cy="5029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679192"/>
            <a:ext cx="411480" cy="365760"/>
          </a:xfrm>
          <a:prstGeom prst="rect">
            <a:avLst/>
          </a:prstGeom>
          <a:noFill/>
        </p:spPr>
        <p:txBody>
          <a:bodyPr wrap="none">
            <a:spAutoFit/>
          </a:bodyPr>
          <a:lstStyle/>
          <a:p>
            <a:pPr algn="ctr">
              <a:defRPr sz="1200" b="1">
                <a:solidFill>
                  <a:srgbClr val="FFFFFF"/>
                </a:solidFill>
              </a:defRPr>
            </a:pPr>
            <a:r>
              <a:t>1</a:t>
            </a:r>
          </a:p>
        </p:txBody>
      </p:sp>
      <p:sp>
        <p:nvSpPr>
          <p:cNvPr id="6" name="Rounded Rectangle 5"/>
          <p:cNvSpPr/>
          <p:nvPr/>
        </p:nvSpPr>
        <p:spPr>
          <a:xfrm>
            <a:off x="365759" y="1371600"/>
            <a:ext cx="1463040" cy="91440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Artificial Intelligence</a:t>
            </a:r>
          </a:p>
          <a:p>
            <a:r>
              <a:t>is transforming</a:t>
            </a:r>
          </a:p>
        </p:txBody>
      </p:sp>
      <p:sp>
        <p:nvSpPr>
          <p:cNvPr id="7" name="Right Arrow 6"/>
          <p:cNvSpPr/>
          <p:nvPr/>
        </p:nvSpPr>
        <p:spPr>
          <a:xfrm>
            <a:off x="1371600" y="2724912"/>
            <a:ext cx="320040" cy="182880"/>
          </a:xfrm>
          <a:prstGeom prst="rightArrow">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331720" y="2606040"/>
            <a:ext cx="502920" cy="5029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95727" y="2679192"/>
            <a:ext cx="411480" cy="365760"/>
          </a:xfrm>
          <a:prstGeom prst="rect">
            <a:avLst/>
          </a:prstGeom>
          <a:noFill/>
        </p:spPr>
        <p:txBody>
          <a:bodyPr wrap="none">
            <a:spAutoFit/>
          </a:bodyPr>
          <a:lstStyle/>
          <a:p>
            <a:pPr algn="ctr">
              <a:defRPr sz="1200" b="1">
                <a:solidFill>
                  <a:srgbClr val="FFFFFF"/>
                </a:solidFill>
              </a:defRPr>
            </a:pPr>
            <a:r>
              <a:t>2</a:t>
            </a:r>
          </a:p>
        </p:txBody>
      </p:sp>
      <p:sp>
        <p:nvSpPr>
          <p:cNvPr id="10" name="Rounded Rectangle 9"/>
          <p:cNvSpPr/>
          <p:nvPr/>
        </p:nvSpPr>
        <p:spPr>
          <a:xfrm>
            <a:off x="1828799" y="1371600"/>
            <a:ext cx="1463040" cy="91440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2</a:t>
            </a:r>
          </a:p>
        </p:txBody>
      </p:sp>
      <p:sp>
        <p:nvSpPr>
          <p:cNvPr id="11" name="Right Arrow 10"/>
          <p:cNvSpPr/>
          <p:nvPr/>
        </p:nvSpPr>
        <p:spPr>
          <a:xfrm>
            <a:off x="2834639" y="2724912"/>
            <a:ext cx="320040" cy="182880"/>
          </a:xfrm>
          <a:prstGeom prst="rightArrow">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794760" y="2606040"/>
            <a:ext cx="502920" cy="5029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58768" y="2679192"/>
            <a:ext cx="411480" cy="365760"/>
          </a:xfrm>
          <a:prstGeom prst="rect">
            <a:avLst/>
          </a:prstGeom>
          <a:noFill/>
        </p:spPr>
        <p:txBody>
          <a:bodyPr wrap="none">
            <a:spAutoFit/>
          </a:bodyPr>
          <a:lstStyle/>
          <a:p>
            <a:pPr algn="ctr">
              <a:defRPr sz="1200" b="1">
                <a:solidFill>
                  <a:srgbClr val="FFFFFF"/>
                </a:solidFill>
              </a:defRPr>
            </a:pPr>
            <a:r>
              <a:t>3</a:t>
            </a:r>
          </a:p>
        </p:txBody>
      </p:sp>
      <p:sp>
        <p:nvSpPr>
          <p:cNvPr id="14" name="Rounded Rectangle 13"/>
          <p:cNvSpPr/>
          <p:nvPr/>
        </p:nvSpPr>
        <p:spPr>
          <a:xfrm>
            <a:off x="3291840" y="1371600"/>
            <a:ext cx="1463040" cy="91440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3</a:t>
            </a:r>
          </a:p>
        </p:txBody>
      </p:sp>
      <p:sp>
        <p:nvSpPr>
          <p:cNvPr id="15" name="Right Arrow 14"/>
          <p:cNvSpPr/>
          <p:nvPr/>
        </p:nvSpPr>
        <p:spPr>
          <a:xfrm>
            <a:off x="4297680" y="2724912"/>
            <a:ext cx="320040" cy="182880"/>
          </a:xfrm>
          <a:prstGeom prst="rightArrow">
            <a:avLst/>
          </a:prstGeom>
          <a:solidFill>
            <a:srgbClr val="B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57800" y="2606040"/>
            <a:ext cx="502920" cy="502920"/>
          </a:xfrm>
          <a:prstGeom prst="ellipse">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21808" y="2679192"/>
            <a:ext cx="411480" cy="365760"/>
          </a:xfrm>
          <a:prstGeom prst="rect">
            <a:avLst/>
          </a:prstGeom>
          <a:noFill/>
        </p:spPr>
        <p:txBody>
          <a:bodyPr wrap="none">
            <a:spAutoFit/>
          </a:bodyPr>
          <a:lstStyle/>
          <a:p>
            <a:pPr algn="ctr">
              <a:defRPr sz="1200" b="1">
                <a:solidFill>
                  <a:srgbClr val="FFFFFF"/>
                </a:solidFill>
              </a:defRPr>
            </a:pPr>
            <a:r>
              <a:t>4</a:t>
            </a:r>
          </a:p>
        </p:txBody>
      </p:sp>
      <p:sp>
        <p:nvSpPr>
          <p:cNvPr id="18" name="Rounded Rectangle 17"/>
          <p:cNvSpPr/>
          <p:nvPr/>
        </p:nvSpPr>
        <p:spPr>
          <a:xfrm>
            <a:off x="4754880" y="1371600"/>
            <a:ext cx="1463040" cy="914400"/>
          </a:xfrm>
          <a:prstGeom prst="round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